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92" r:id="rId6"/>
  </p:sldMasterIdLst>
  <p:notesMasterIdLst>
    <p:notesMasterId r:id="rId7"/>
  </p:notesMasterIdLst>
  <p:sldIdLst>
    <p:sldId id="262" r:id="rId14"/>
    <p:sldId id="263" r:id="rId15"/>
    <p:sldId id="272" r:id="rId31"/>
    <p:sldId id="273" r:id="rId32"/>
    <p:sldId id="274" r:id="rId33"/>
    <p:sldId id="275" r:id="rId34"/>
    <p:sldId id="276" r:id="rId35"/>
    <p:sldId id="277" r:id="rId36"/>
    <p:sldId id="281" r:id="rId40"/>
    <p:sldId id="278" r:id="rId37"/>
    <p:sldId id="279" r:id="rId38"/>
    <p:sldId id="280" r:id="rId39"/>
    <p:sldId id="267" r:id="rId19"/>
    <p:sldId id="268" r:id="rId20"/>
    <p:sldId id="269" r:id="rId21"/>
    <p:sldId id="270" r:id="rId22"/>
    <p:sldId id="271" r:id="rId23"/>
  </p:sldIdLst>
  <p:sldSz cy="5143500" cx="9144000"/>
  <p:notesSz cx="6858000" cy="9144000"/>
  <p:embeddedFontLst>
    <p:embeddedFont>
      <p:font typeface="Roboto Slab"/>
      <p:regular r:id="rId24"/>
      <p:bold r:id="rId25"/>
    </p:embeddedFon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hW/5AHALO5ggDmSVyE+jgSciwb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font" Target="fonts/RobotoSlab-regular.fntdata"/><Relationship Id="rId25" Type="http://schemas.openxmlformats.org/officeDocument/2006/relationships/font" Target="fonts/RobotoSlab-bold.fntdata"/><Relationship Id="rId26" Type="http://schemas.openxmlformats.org/officeDocument/2006/relationships/font" Target="fonts/Roboto-regular.fntdata"/><Relationship Id="rId27" Type="http://schemas.openxmlformats.org/officeDocument/2006/relationships/font" Target="fonts/Roboto-bold.fntdata"/><Relationship Id="rId28" Type="http://schemas.openxmlformats.org/officeDocument/2006/relationships/font" Target="fonts/Roboto-italic.fntdata"/><Relationship Id="rId29" Type="http://schemas.openxmlformats.org/officeDocument/2006/relationships/font" Target="fonts/Roboto-boldItalic.fntdata"/><Relationship Id="rId30" Type="http://customschemas.google.com/relationships/presentationmetadata" Target="metadata"/><Relationship Id="rId31" Type="http://schemas.openxmlformats.org/officeDocument/2006/relationships/slide" Target="slides/slide3.xml"/><Relationship Id="rId32" Type="http://schemas.openxmlformats.org/officeDocument/2006/relationships/slide" Target="slides/slide4.xml"/><Relationship Id="rId33" Type="http://schemas.openxmlformats.org/officeDocument/2006/relationships/slide" Target="slides/slide5.xml"/><Relationship Id="rId34" Type="http://schemas.openxmlformats.org/officeDocument/2006/relationships/slide" Target="slides/slide6.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Questions</c:v>
                </c:pt>
              </c:strCache>
            </c:strRef>
          </c:tx>
          <c:spPr>
            <a:solidFill>
              <a:srgbClr val="145DA0"/>
            </a:solidFill>
          </c:spPr>
          <c:dPt>
            <c:idx val="6"/>
            <c:spPr>
              <a:solidFill>
                <a:srgbClr val="D96A1E"/>
              </a:solidFill>
            </c:spPr>
          </c:dPt>
          <c:cat>
            <c:strRef>
              <c:f>Sheet1!$A$2:$A$10</c:f>
              <c:strCache>
                <c:ptCount val="9"/>
                <c:pt idx="0">
                  <c:v>Lookup</c:v>
                </c:pt>
                <c:pt idx="1">
                  <c:v>Leaderboard</c:v>
                </c:pt>
                <c:pt idx="2">
                  <c:v>Awards</c:v>
                </c:pt>
                <c:pt idx="3">
                  <c:v>Career</c:v>
                </c:pt>
                <c:pt idx="4">
                  <c:v>Team</c:v>
                </c:pt>
                <c:pt idx="5">
                  <c:v>History</c:v>
                </c:pt>
                <c:pt idx="6">
                  <c:v>Unanswerable</c:v>
                </c:pt>
                <c:pt idx="7">
                  <c:v>Comparison</c:v>
                </c:pt>
                <c:pt idx="8">
                  <c:v>Advanced</c:v>
                </c:pt>
              </c:strCache>
            </c:strRef>
          </c:cat>
          <c:val>
            <c:numRef>
              <c:f>Sheet1!$B$2:$B$10</c:f>
              <c:numCache>
                <c:formatCode>General</c:formatCode>
                <c:ptCount val="9"/>
                <c:pt idx="0">
                  <c:v>6</c:v>
                </c:pt>
                <c:pt idx="1">
                  <c:v>6</c:v>
                </c:pt>
                <c:pt idx="2">
                  <c:v>6</c:v>
                </c:pt>
                <c:pt idx="3">
                  <c:v>5</c:v>
                </c:pt>
                <c:pt idx="4">
                  <c:v>5</c:v>
                </c:pt>
                <c:pt idx="5">
                  <c:v>4</c:v>
                </c:pt>
                <c:pt idx="6">
                  <c:v>4</c:v>
                </c:pt>
                <c:pt idx="7">
                  <c:v>3</c:v>
                </c:pt>
                <c:pt idx="8">
                  <c:v>3</c:v>
                </c:pt>
              </c:numCache>
            </c:numRef>
          </c:val>
        </c:ser>
        <c:dLbls>
          <c:txPr>
            <a:bodyPr/>
            <a:lstStyle/>
            <a:p>
              <a:pPr>
                <a:defRPr sz="12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7.5"/>
        </c:scaling>
        <c:delete/>
        <c:axPos val="b"/>
        <c:majorTickMark val="out"/>
        <c:minorTickMark val="none"/>
        <c:tickLblPos val="nextTo"/>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 did not design or code the interface. The brief only describes what the app has to do: show the answer, show the SQL, offer example questions, handle errors. A script sends that brief to OpenAI or Gemini, checks the reply is valid Python connected to the agent, and saves it. We read it before running it, because it runs with our API keys. Feedback, including pasted error messages, goes back to the model.</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common question: does running the eval make the model better? No. The eval only measures. The model improves when we change the prompt, the data dictionary, the views, add examples, or switch models, based on what the failures show. The held-out test set tells us whether we fooled ourselves.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 clear about status. The data layer, the tests, and the gold answers are verified. What we do not have yet is a live accuracy number for either model: that is the next run in Colab. Add the results here once you have them.</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answerable question has a gold SQL query that runs against the same data. The unanswerable questions, in orange, are the ones the agent must refuse: salaries, playoff player stats, individual games, predictions. 28 questions are for tuning and 14 are held back so we can tell if we overfit.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DuckDB is the 'SQL in Colab' answer: it queries CSV files directly, with nothing to install except a pip package. The offline tests use fake model clients, so the whole tool-calling loop is tested without spending any API credit.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pieces. The data layer, the agent, the evaluation harness, and the app. The app is the interesting part for this cohort: I did not write the interface, the OpenAI and Gemini models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038e53ae8_0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basketbaLLM is an agent that answers NBA history questions from real data. It runs on OpenAI and Gemini models in Google Colab. The idea in one line: the model never remembers a statistic, it finds it.</a:t>
            </a:r>
          </a:p>
        </p:txBody>
      </p:sp>
      <p:sp>
        <p:nvSpPr>
          <p:cNvPr id="318" name="Google Shape;318;g3e038e53ae8_0_4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e038e53ae8_0_4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r>
              <a:t>The cohort asked for a tiny LLM project. We chose an agent over data: it is the pattern I want to use on corporate data at work. Basketball gives us data everyone understands and answers we can check.</a:t>
            </a:r>
          </a:p>
        </p:txBody>
      </p:sp>
      <p:sp>
        <p:nvSpPr>
          <p:cNvPr id="326" name="Google Shape;326;g3e038e53ae8_0_4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model gets two tools. get_schema tells it what the tables mean. run_sql runs one read-only query. It can try, see an error, and fix its own query. The answer always comes with the SQL it ran, so a person can check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Kaggle dataset is Basketball-Reference data, one row per player per season. That means a question like 'how many 40-point games did he have' cannot be answered, and the agent must say so. That behavior is part of the evaluation.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the kind of problems that make an AI agent confidently wrong, and they are the same kind of problems corporate data has: duplicate rows, null markers, calendar conventions. We fixed them once in the views instead of hoping the model would cope on every question.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038e53ae8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Switch to the app now.</a:t>
            </a:r>
          </a:p>
        </p:txBody>
      </p:sp>
      <p:sp>
        <p:nvSpPr>
          <p:cNvPr id="359" name="Google Shape;359;g3e038e53ae8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038e53ae8_0_48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r>
              <a:t>Gemma is next because it adds the 'run your own model' angle for the cohort. The unused dataset files open up shot location and on/off questions.</a:t>
            </a:r>
          </a:p>
        </p:txBody>
      </p:sp>
      <p:sp>
        <p:nvSpPr>
          <p:cNvPr id="366" name="Google Shape;366;g3e038e53ae8_0_4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038e53ae8_0_49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r>
              <a:t>Two of these came from real mistakes. The offline tests caught a pandas string-type bug and a relative-path bug before they reached a notebook.</a:t>
            </a:r>
          </a:p>
        </p:txBody>
      </p:sp>
      <p:sp>
        <p:nvSpPr>
          <p:cNvPr id="374" name="Google Shape;374;g3e038e53ae8_0_4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038e53ae8_0_49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r>
              <a:t>Invite the audience to suggest a question and try it live.</a:t>
            </a:r>
          </a:p>
        </p:txBody>
      </p:sp>
      <p:sp>
        <p:nvSpPr>
          <p:cNvPr id="382" name="Google Shape;382;g3e038e53ae8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e038e53ae8_0_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Thank you.</a:t>
            </a:r>
          </a:p>
        </p:txBody>
      </p:sp>
      <p:sp>
        <p:nvSpPr>
          <p:cNvPr id="390" name="Google Shape;390;g3e038e53ae8_0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Script the whole flow ahead of time. Question 1 shows a clean lookup. Question 2 shows career aggregation done correctly. Question 3 is the important one: a good agent says the data cannot answer it. Question 4 opens the SQL so the audience sees why the answer can be trusted. The expected answers come from the gold queries; run the demo once before presenting.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17"/>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17"/>
          <p:cNvSpPr txBox="1"/>
          <p:nvPr/>
        </p:nvSpPr>
        <p:spPr>
          <a:xfrm>
            <a:off x="3174750" y="4421700"/>
            <a:ext cx="2794500" cy="72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1" lang="en" sz="2400" u="none" cap="none" strike="noStrike">
                <a:solidFill>
                  <a:srgbClr val="000000"/>
                </a:solidFill>
                <a:latin typeface="Calibri"/>
                <a:ea typeface="Calibri"/>
                <a:cs typeface="Calibri"/>
                <a:sym typeface="Calibri"/>
              </a:rPr>
              <a:t>http://aiclub.world</a:t>
            </a:r>
            <a:endParaRPr b="0" i="1" sz="24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ormal">
  <p:cSld name="1_Normal">
    <p:spTree>
      <p:nvGrpSpPr>
        <p:cNvPr id="18" name="Shape 18"/>
        <p:cNvGrpSpPr/>
        <p:nvPr/>
      </p:nvGrpSpPr>
      <p:grpSpPr>
        <a:xfrm>
          <a:off x="0" y="0"/>
          <a:ext cx="0" cy="0"/>
          <a:chOff x="0" y="0"/>
          <a:chExt cx="0" cy="0"/>
        </a:xfrm>
      </p:grpSpPr>
      <p:sp>
        <p:nvSpPr>
          <p:cNvPr id="19" name="Google Shape;19;p18"/>
          <p:cNvSpPr txBox="1"/>
          <p:nvPr>
            <p:ph type="title"/>
          </p:nvPr>
        </p:nvSpPr>
        <p:spPr>
          <a:xfrm>
            <a:off x="304800" y="209550"/>
            <a:ext cx="8229600" cy="493776"/>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526F89"/>
              </a:buClr>
              <a:buSzPts val="2800"/>
              <a:buFont typeface="Avenir"/>
              <a:buNone/>
              <a:defRPr b="1" sz="2800">
                <a:solidFill>
                  <a:srgbClr val="526F89"/>
                </a:solidFill>
                <a:latin typeface="Avenir"/>
                <a:ea typeface="Avenir"/>
                <a:cs typeface="Avenir"/>
                <a:sym typeface="Aveni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18"/>
          <p:cNvSpPr txBox="1"/>
          <p:nvPr>
            <p:ph idx="1" type="body"/>
          </p:nvPr>
        </p:nvSpPr>
        <p:spPr>
          <a:xfrm>
            <a:off x="304800" y="895351"/>
            <a:ext cx="8229600" cy="3622881"/>
          </a:xfrm>
          <a:prstGeom prst="rect">
            <a:avLst/>
          </a:prstGeom>
          <a:noFill/>
          <a:ln>
            <a:noFill/>
          </a:ln>
        </p:spPr>
        <p:txBody>
          <a:bodyPr anchorCtr="0" anchor="t" bIns="34275" lIns="68575" spcFirstLastPara="1" rIns="68575" wrap="square" tIns="34275">
            <a:noAutofit/>
          </a:bodyPr>
          <a:lstStyle>
            <a:lvl1pPr indent="-355600" lvl="0" marL="457200" algn="l">
              <a:lnSpc>
                <a:spcPct val="114000"/>
              </a:lnSpc>
              <a:spcBef>
                <a:spcPts val="0"/>
              </a:spcBef>
              <a:spcAft>
                <a:spcPts val="0"/>
              </a:spcAft>
              <a:buClr>
                <a:srgbClr val="3984A4"/>
              </a:buClr>
              <a:buSzPts val="2000"/>
              <a:buChar char="•"/>
              <a:defRPr sz="2000">
                <a:solidFill>
                  <a:srgbClr val="383F51"/>
                </a:solidFill>
                <a:latin typeface="Avenir"/>
                <a:ea typeface="Avenir"/>
                <a:cs typeface="Avenir"/>
                <a:sym typeface="Avenir"/>
              </a:defRPr>
            </a:lvl1pPr>
            <a:lvl2pPr indent="-342900" lvl="1" marL="914400" algn="l">
              <a:lnSpc>
                <a:spcPct val="114000"/>
              </a:lnSpc>
              <a:spcBef>
                <a:spcPts val="700"/>
              </a:spcBef>
              <a:spcAft>
                <a:spcPts val="0"/>
              </a:spcAft>
              <a:buClr>
                <a:srgbClr val="3984A4"/>
              </a:buClr>
              <a:buSzPts val="1800"/>
              <a:buChar char="•"/>
              <a:defRPr sz="1800">
                <a:solidFill>
                  <a:srgbClr val="383F51"/>
                </a:solidFill>
                <a:latin typeface="Avenir"/>
                <a:ea typeface="Avenir"/>
                <a:cs typeface="Avenir"/>
                <a:sym typeface="Avenir"/>
              </a:defRPr>
            </a:lvl2pPr>
            <a:lvl3pPr indent="-330200" lvl="2" marL="1371600" algn="l">
              <a:lnSpc>
                <a:spcPct val="114000"/>
              </a:lnSpc>
              <a:spcBef>
                <a:spcPts val="700"/>
              </a:spcBef>
              <a:spcAft>
                <a:spcPts val="0"/>
              </a:spcAft>
              <a:buClr>
                <a:srgbClr val="3984A4"/>
              </a:buClr>
              <a:buSzPts val="1600"/>
              <a:buChar char="•"/>
              <a:defRPr sz="1600">
                <a:solidFill>
                  <a:srgbClr val="383F51"/>
                </a:solidFill>
                <a:latin typeface="Avenir"/>
                <a:ea typeface="Avenir"/>
                <a:cs typeface="Avenir"/>
                <a:sym typeface="Avenir"/>
              </a:defRPr>
            </a:lvl3pPr>
            <a:lvl4pPr indent="-317500" lvl="3" marL="1828800" algn="l">
              <a:lnSpc>
                <a:spcPct val="114000"/>
              </a:lnSpc>
              <a:spcBef>
                <a:spcPts val="700"/>
              </a:spcBef>
              <a:spcAft>
                <a:spcPts val="0"/>
              </a:spcAft>
              <a:buClr>
                <a:srgbClr val="3984A4"/>
              </a:buClr>
              <a:buSzPts val="1400"/>
              <a:buChar char="•"/>
              <a:defRPr sz="1400">
                <a:solidFill>
                  <a:srgbClr val="383F51"/>
                </a:solidFill>
                <a:latin typeface="Avenir"/>
                <a:ea typeface="Avenir"/>
                <a:cs typeface="Avenir"/>
                <a:sym typeface="Avenir"/>
              </a:defRPr>
            </a:lvl4pPr>
            <a:lvl5pPr indent="-304800" lvl="4" marL="2286000" algn="l">
              <a:lnSpc>
                <a:spcPct val="114000"/>
              </a:lnSpc>
              <a:spcBef>
                <a:spcPts val="700"/>
              </a:spcBef>
              <a:spcAft>
                <a:spcPts val="0"/>
              </a:spcAft>
              <a:buClr>
                <a:srgbClr val="3984A4"/>
              </a:buClr>
              <a:buSzPts val="1200"/>
              <a:buChar char="•"/>
              <a:defRPr sz="1200">
                <a:solidFill>
                  <a:srgbClr val="383F51"/>
                </a:solidFill>
                <a:latin typeface="Avenir"/>
                <a:ea typeface="Avenir"/>
                <a:cs typeface="Avenir"/>
                <a:sym typeface="Avenir"/>
              </a:defRPr>
            </a:lvl5pPr>
            <a:lvl6pPr indent="-273050" lvl="5" marL="2743200" algn="l">
              <a:lnSpc>
                <a:spcPct val="90000"/>
              </a:lnSpc>
              <a:spcBef>
                <a:spcPts val="700"/>
              </a:spcBef>
              <a:spcAft>
                <a:spcPts val="0"/>
              </a:spcAft>
              <a:buClr>
                <a:schemeClr val="dk1"/>
              </a:buClr>
              <a:buSzPts val="700"/>
              <a:buChar char="•"/>
              <a:defRPr sz="700"/>
            </a:lvl6pPr>
            <a:lvl7pPr indent="-273050" lvl="6" marL="3200400" algn="l">
              <a:lnSpc>
                <a:spcPct val="90000"/>
              </a:lnSpc>
              <a:spcBef>
                <a:spcPts val="400"/>
              </a:spcBef>
              <a:spcAft>
                <a:spcPts val="0"/>
              </a:spcAft>
              <a:buClr>
                <a:schemeClr val="dk1"/>
              </a:buClr>
              <a:buSzPts val="700"/>
              <a:buChar char="•"/>
              <a:defRPr sz="700"/>
            </a:lvl7pPr>
            <a:lvl8pPr indent="-273050" lvl="7" marL="3657600" algn="l">
              <a:lnSpc>
                <a:spcPct val="90000"/>
              </a:lnSpc>
              <a:spcBef>
                <a:spcPts val="400"/>
              </a:spcBef>
              <a:spcAft>
                <a:spcPts val="0"/>
              </a:spcAft>
              <a:buClr>
                <a:schemeClr val="dk1"/>
              </a:buClr>
              <a:buSzPts val="700"/>
              <a:buChar char="•"/>
              <a:defRPr sz="700"/>
            </a:lvl8pPr>
            <a:lvl9pPr indent="-273050" lvl="8" marL="4114800" algn="l">
              <a:lnSpc>
                <a:spcPct val="90000"/>
              </a:lnSpc>
              <a:spcBef>
                <a:spcPts val="400"/>
              </a:spcBef>
              <a:spcAft>
                <a:spcPts val="0"/>
              </a:spcAft>
              <a:buClr>
                <a:schemeClr val="dk1"/>
              </a:buClr>
              <a:buSzPts val="700"/>
              <a:buChar char="•"/>
              <a:defRPr sz="700"/>
            </a:lvl9pPr>
          </a:lstStyle>
          <a:p/>
        </p:txBody>
      </p:sp>
    </p:spTree>
  </p:cSld>
  <p:clrMapOvr>
    <a:masterClrMapping/>
  </p:clrMapOvr>
  <p:extLst>
    <p:ext uri="{DCECCB84-F9BA-43D5-87BE-67443E8EF086}">
      <p15:sldGuideLst>
        <p15:guide id="1" orient="horz" pos="1215">
          <p15:clr>
            <a:srgbClr val="FBAE40"/>
          </p15:clr>
        </p15:guide>
        <p15:guide id="2" pos="24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19"/>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 name="Google Shape;24;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2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0" name="Google Shape;30;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21"/>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2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22"/>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3" name="Google Shape;43;p22"/>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22"/>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 name="Google Shape;45;p22"/>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25"/>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1" name="Google Shape;61;p2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2" name="Google Shape;62;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26"/>
          <p:cNvSpPr/>
          <p:nvPr>
            <p:ph idx="2" type="pic"/>
          </p:nvPr>
        </p:nvSpPr>
        <p:spPr>
          <a:xfrm>
            <a:off x="3887391" y="740569"/>
            <a:ext cx="4629150" cy="3655219"/>
          </a:xfrm>
          <a:prstGeom prst="rect">
            <a:avLst/>
          </a:prstGeom>
          <a:noFill/>
          <a:ln>
            <a:noFill/>
          </a:ln>
        </p:spPr>
      </p:sp>
      <p:sp>
        <p:nvSpPr>
          <p:cNvPr id="68" name="Google Shape;68;p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9" name="Google Shape;69;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27"/>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5350073" y="1467446"/>
            <a:ext cx="4358879" cy="1971675"/>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28"/>
          <p:cNvSpPr txBox="1"/>
          <p:nvPr>
            <p:ph idx="1" type="body"/>
          </p:nvPr>
        </p:nvSpPr>
        <p:spPr>
          <a:xfrm rot="5400000">
            <a:off x="1349573" y="-447079"/>
            <a:ext cx="4358879" cy="5800725"/>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Master Slide">
  <p:cSld name="18 Master Slide">
    <p:spTree>
      <p:nvGrpSpPr>
        <p:cNvPr id="90" name="Shape 90"/>
        <p:cNvGrpSpPr/>
        <p:nvPr/>
      </p:nvGrpSpPr>
      <p:grpSpPr>
        <a:xfrm>
          <a:off x="0" y="0"/>
          <a:ext cx="0" cy="0"/>
          <a:chOff x="0" y="0"/>
          <a:chExt cx="0" cy="0"/>
        </a:xfrm>
      </p:grpSpPr>
      <p:sp>
        <p:nvSpPr>
          <p:cNvPr id="91" name="Google Shape;91;g3e038e53ae8_0_121"/>
          <p:cNvSpPr/>
          <p:nvPr>
            <p:ph idx="2" type="pic"/>
          </p:nvPr>
        </p:nvSpPr>
        <p:spPr>
          <a:xfrm>
            <a:off x="450377" y="422228"/>
            <a:ext cx="8243400" cy="4317000"/>
          </a:xfrm>
          <a:prstGeom prst="rect">
            <a:avLst/>
          </a:prstGeom>
          <a:solidFill>
            <a:schemeClr val="lt1"/>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Master Slide">
  <p:cSld name="09 Master Slide">
    <p:spTree>
      <p:nvGrpSpPr>
        <p:cNvPr id="92" name="Shape 92"/>
        <p:cNvGrpSpPr/>
        <p:nvPr/>
      </p:nvGrpSpPr>
      <p:grpSpPr>
        <a:xfrm>
          <a:off x="0" y="0"/>
          <a:ext cx="0" cy="0"/>
          <a:chOff x="0" y="0"/>
          <a:chExt cx="0" cy="0"/>
        </a:xfrm>
      </p:grpSpPr>
      <p:sp>
        <p:nvSpPr>
          <p:cNvPr id="93" name="Google Shape;93;g3e038e53ae8_0_123"/>
          <p:cNvSpPr/>
          <p:nvPr>
            <p:ph idx="2" type="pic"/>
          </p:nvPr>
        </p:nvSpPr>
        <p:spPr>
          <a:xfrm>
            <a:off x="540000" y="540000"/>
            <a:ext cx="2031900" cy="2031900"/>
          </a:xfrm>
          <a:prstGeom prst="rect">
            <a:avLst/>
          </a:prstGeom>
          <a:solidFill>
            <a:schemeClr val="lt1"/>
          </a:solidFill>
          <a:ln>
            <a:noFill/>
          </a:ln>
        </p:spPr>
      </p:sp>
      <p:sp>
        <p:nvSpPr>
          <p:cNvPr id="94" name="Google Shape;94;g3e038e53ae8_0_123"/>
          <p:cNvSpPr/>
          <p:nvPr>
            <p:ph idx="3" type="pic"/>
          </p:nvPr>
        </p:nvSpPr>
        <p:spPr>
          <a:xfrm>
            <a:off x="2571750" y="2571750"/>
            <a:ext cx="2031900" cy="2031900"/>
          </a:xfrm>
          <a:prstGeom prst="rect">
            <a:avLst/>
          </a:prstGeom>
          <a:solidFill>
            <a:schemeClr val="lt1"/>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Master Slide">
  <p:cSld name="16 Master Slide">
    <p:spTree>
      <p:nvGrpSpPr>
        <p:cNvPr id="95" name="Shape 95"/>
        <p:cNvGrpSpPr/>
        <p:nvPr/>
      </p:nvGrpSpPr>
      <p:grpSpPr>
        <a:xfrm>
          <a:off x="0" y="0"/>
          <a:ext cx="0" cy="0"/>
          <a:chOff x="0" y="0"/>
          <a:chExt cx="0" cy="0"/>
        </a:xfrm>
      </p:grpSpPr>
      <p:sp>
        <p:nvSpPr>
          <p:cNvPr id="96" name="Google Shape;96;g3e038e53ae8_0_126"/>
          <p:cNvSpPr/>
          <p:nvPr>
            <p:ph idx="2" type="pic"/>
          </p:nvPr>
        </p:nvSpPr>
        <p:spPr>
          <a:xfrm>
            <a:off x="809798" y="3737513"/>
            <a:ext cx="1165500" cy="1165500"/>
          </a:xfrm>
          <a:prstGeom prst="rect">
            <a:avLst/>
          </a:prstGeom>
          <a:solidFill>
            <a:schemeClr val="lt1"/>
          </a:solidFill>
          <a:ln>
            <a:noFill/>
          </a:ln>
        </p:spPr>
      </p:sp>
      <p:sp>
        <p:nvSpPr>
          <p:cNvPr id="97" name="Google Shape;97;g3e038e53ae8_0_126"/>
          <p:cNvSpPr/>
          <p:nvPr>
            <p:ph idx="3" type="pic"/>
          </p:nvPr>
        </p:nvSpPr>
        <p:spPr>
          <a:xfrm>
            <a:off x="4861580" y="3737513"/>
            <a:ext cx="1165500" cy="1165500"/>
          </a:xfrm>
          <a:prstGeom prst="rect">
            <a:avLst/>
          </a:prstGeom>
          <a:solidFill>
            <a:schemeClr val="lt1"/>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98" name="Shape 98"/>
        <p:cNvGrpSpPr/>
        <p:nvPr/>
      </p:nvGrpSpPr>
      <p:grpSpPr>
        <a:xfrm>
          <a:off x="0" y="0"/>
          <a:ext cx="0" cy="0"/>
          <a:chOff x="0" y="0"/>
          <a:chExt cx="0" cy="0"/>
        </a:xfrm>
      </p:grpSpPr>
      <p:sp>
        <p:nvSpPr>
          <p:cNvPr id="99" name="Google Shape;99;g3e038e53ae8_0_129"/>
          <p:cNvSpPr/>
          <p:nvPr>
            <p:ph idx="2" type="pic"/>
          </p:nvPr>
        </p:nvSpPr>
        <p:spPr>
          <a:xfrm>
            <a:off x="0" y="0"/>
            <a:ext cx="3429000" cy="5143500"/>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Master Slide">
  <p:cSld name="06 Master Slide">
    <p:spTree>
      <p:nvGrpSpPr>
        <p:cNvPr id="100" name="Shape 100"/>
        <p:cNvGrpSpPr/>
        <p:nvPr/>
      </p:nvGrpSpPr>
      <p:grpSpPr>
        <a:xfrm>
          <a:off x="0" y="0"/>
          <a:ext cx="0" cy="0"/>
          <a:chOff x="0" y="0"/>
          <a:chExt cx="0" cy="0"/>
        </a:xfrm>
      </p:grpSpPr>
      <p:sp>
        <p:nvSpPr>
          <p:cNvPr id="101" name="Google Shape;101;g3e038e53ae8_0_131"/>
          <p:cNvSpPr/>
          <p:nvPr>
            <p:ph idx="2" type="pic"/>
          </p:nvPr>
        </p:nvSpPr>
        <p:spPr>
          <a:xfrm>
            <a:off x="451820" y="874752"/>
            <a:ext cx="3059100" cy="3410400"/>
          </a:xfrm>
          <a:prstGeom prst="rect">
            <a:avLst/>
          </a:prstGeom>
          <a:solidFill>
            <a:schemeClr val="lt1"/>
          </a:solidFill>
          <a:ln>
            <a:noFill/>
          </a:ln>
        </p:spPr>
      </p:sp>
      <p:sp>
        <p:nvSpPr>
          <p:cNvPr id="102" name="Google Shape;102;g3e038e53ae8_0_131"/>
          <p:cNvSpPr/>
          <p:nvPr>
            <p:ph idx="3" type="pic"/>
          </p:nvPr>
        </p:nvSpPr>
        <p:spPr>
          <a:xfrm>
            <a:off x="1567731" y="2661557"/>
            <a:ext cx="1943100" cy="2084700"/>
          </a:xfrm>
          <a:prstGeom prst="rect">
            <a:avLst/>
          </a:prstGeom>
          <a:solidFill>
            <a:schemeClr val="lt1"/>
          </a:solidFill>
          <a:ln>
            <a:noFill/>
          </a:ln>
        </p:spPr>
      </p:sp>
      <p:sp>
        <p:nvSpPr>
          <p:cNvPr id="103" name="Google Shape;103;g3e038e53ae8_0_131"/>
          <p:cNvSpPr/>
          <p:nvPr>
            <p:ph idx="4" type="pic"/>
          </p:nvPr>
        </p:nvSpPr>
        <p:spPr>
          <a:xfrm>
            <a:off x="3510832" y="2661557"/>
            <a:ext cx="1943100" cy="2084700"/>
          </a:xfrm>
          <a:prstGeom prst="rect">
            <a:avLst/>
          </a:prstGeom>
          <a:solidFill>
            <a:schemeClr val="lt1"/>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Master Slide">
  <p:cSld name="07 Master Slide">
    <p:spTree>
      <p:nvGrpSpPr>
        <p:cNvPr id="104" name="Shape 104"/>
        <p:cNvGrpSpPr/>
        <p:nvPr/>
      </p:nvGrpSpPr>
      <p:grpSpPr>
        <a:xfrm>
          <a:off x="0" y="0"/>
          <a:ext cx="0" cy="0"/>
          <a:chOff x="0" y="0"/>
          <a:chExt cx="0" cy="0"/>
        </a:xfrm>
      </p:grpSpPr>
      <p:sp>
        <p:nvSpPr>
          <p:cNvPr id="105" name="Google Shape;105;g3e038e53ae8_0_135"/>
          <p:cNvSpPr/>
          <p:nvPr>
            <p:ph idx="2" type="pic"/>
          </p:nvPr>
        </p:nvSpPr>
        <p:spPr>
          <a:xfrm>
            <a:off x="435428" y="435429"/>
            <a:ext cx="8273400" cy="2685000"/>
          </a:xfrm>
          <a:prstGeom prst="rect">
            <a:avLst/>
          </a:prstGeom>
          <a:solidFill>
            <a:schemeClr val="lt1"/>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06" name="Shape 106"/>
        <p:cNvGrpSpPr/>
        <p:nvPr/>
      </p:nvGrpSpPr>
      <p:grpSpPr>
        <a:xfrm>
          <a:off x="0" y="0"/>
          <a:ext cx="0" cy="0"/>
          <a:chOff x="0" y="0"/>
          <a:chExt cx="0" cy="0"/>
        </a:xfrm>
      </p:grpSpPr>
      <p:sp>
        <p:nvSpPr>
          <p:cNvPr id="107" name="Google Shape;107;g3e038e53ae8_0_137"/>
          <p:cNvSpPr/>
          <p:nvPr>
            <p:ph idx="2" type="pic"/>
          </p:nvPr>
        </p:nvSpPr>
        <p:spPr>
          <a:xfrm>
            <a:off x="1" y="2571750"/>
            <a:ext cx="9144000" cy="2160000"/>
          </a:xfrm>
          <a:prstGeom prst="rect">
            <a:avLst/>
          </a:prstGeom>
          <a:solidFill>
            <a:schemeClr val="lt1"/>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8" name="Shape 108"/>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Master Slide">
  <p:cSld name="08 Master Slide">
    <p:spTree>
      <p:nvGrpSpPr>
        <p:cNvPr id="109" name="Shape 109"/>
        <p:cNvGrpSpPr/>
        <p:nvPr/>
      </p:nvGrpSpPr>
      <p:grpSpPr>
        <a:xfrm>
          <a:off x="0" y="0"/>
          <a:ext cx="0" cy="0"/>
          <a:chOff x="0" y="0"/>
          <a:chExt cx="0" cy="0"/>
        </a:xfrm>
      </p:grpSpPr>
      <p:sp>
        <p:nvSpPr>
          <p:cNvPr id="110" name="Google Shape;110;g3e038e53ae8_0_140"/>
          <p:cNvSpPr/>
          <p:nvPr>
            <p:ph idx="2" type="pic"/>
          </p:nvPr>
        </p:nvSpPr>
        <p:spPr>
          <a:xfrm>
            <a:off x="435428" y="2023180"/>
            <a:ext cx="8273400" cy="2685000"/>
          </a:xfrm>
          <a:prstGeom prst="rect">
            <a:avLst/>
          </a:prstGeom>
          <a:solidFill>
            <a:schemeClr val="lt1"/>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Master Slide">
  <p:cSld name="11 Master Slide">
    <p:spTree>
      <p:nvGrpSpPr>
        <p:cNvPr id="111" name="Shape 111"/>
        <p:cNvGrpSpPr/>
        <p:nvPr/>
      </p:nvGrpSpPr>
      <p:grpSpPr>
        <a:xfrm>
          <a:off x="0" y="0"/>
          <a:ext cx="0" cy="0"/>
          <a:chOff x="0" y="0"/>
          <a:chExt cx="0" cy="0"/>
        </a:xfrm>
      </p:grpSpPr>
      <p:sp>
        <p:nvSpPr>
          <p:cNvPr id="112" name="Google Shape;112;g3e038e53ae8_0_142"/>
          <p:cNvSpPr/>
          <p:nvPr>
            <p:ph idx="2" type="pic"/>
          </p:nvPr>
        </p:nvSpPr>
        <p:spPr>
          <a:xfrm>
            <a:off x="373113" y="2571749"/>
            <a:ext cx="3810000" cy="2160000"/>
          </a:xfrm>
          <a:prstGeom prst="rect">
            <a:avLst/>
          </a:prstGeom>
          <a:solidFill>
            <a:schemeClr val="lt1"/>
          </a:solidFill>
          <a:ln>
            <a:noFill/>
          </a:ln>
        </p:spPr>
      </p:sp>
      <p:sp>
        <p:nvSpPr>
          <p:cNvPr id="113" name="Google Shape;113;g3e038e53ae8_0_142"/>
          <p:cNvSpPr/>
          <p:nvPr>
            <p:ph idx="3" type="pic"/>
          </p:nvPr>
        </p:nvSpPr>
        <p:spPr>
          <a:xfrm>
            <a:off x="4824713" y="2571749"/>
            <a:ext cx="3810000" cy="2160000"/>
          </a:xfrm>
          <a:prstGeom prst="rect">
            <a:avLst/>
          </a:prstGeom>
          <a:solidFill>
            <a:schemeClr val="lt1"/>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Master Slide">
  <p:cSld name="04 Master Slide">
    <p:spTree>
      <p:nvGrpSpPr>
        <p:cNvPr id="114" name="Shape 114"/>
        <p:cNvGrpSpPr/>
        <p:nvPr/>
      </p:nvGrpSpPr>
      <p:grpSpPr>
        <a:xfrm>
          <a:off x="0" y="0"/>
          <a:ext cx="0" cy="0"/>
          <a:chOff x="0" y="0"/>
          <a:chExt cx="0" cy="0"/>
        </a:xfrm>
      </p:grpSpPr>
      <p:sp>
        <p:nvSpPr>
          <p:cNvPr id="115" name="Google Shape;115;g3e038e53ae8_0_145"/>
          <p:cNvSpPr/>
          <p:nvPr>
            <p:ph idx="2" type="pic"/>
          </p:nvPr>
        </p:nvSpPr>
        <p:spPr>
          <a:xfrm>
            <a:off x="4572000" y="0"/>
            <a:ext cx="4572000" cy="5143500"/>
          </a:xfrm>
          <a:prstGeom prst="rect">
            <a:avLst/>
          </a:prstGeom>
          <a:solidFill>
            <a:schemeClr val="lt1"/>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Master Slide">
  <p:cSld name="14 Master Slide">
    <p:spTree>
      <p:nvGrpSpPr>
        <p:cNvPr id="116" name="Shape 116"/>
        <p:cNvGrpSpPr/>
        <p:nvPr/>
      </p:nvGrpSpPr>
      <p:grpSpPr>
        <a:xfrm>
          <a:off x="0" y="0"/>
          <a:ext cx="0" cy="0"/>
          <a:chOff x="0" y="0"/>
          <a:chExt cx="0" cy="0"/>
        </a:xfrm>
      </p:grpSpPr>
      <p:sp>
        <p:nvSpPr>
          <p:cNvPr id="117" name="Google Shape;117;g3e038e53ae8_0_147"/>
          <p:cNvSpPr/>
          <p:nvPr>
            <p:ph idx="2" type="pic"/>
          </p:nvPr>
        </p:nvSpPr>
        <p:spPr>
          <a:xfrm>
            <a:off x="1" y="0"/>
            <a:ext cx="4029000" cy="5143500"/>
          </a:xfrm>
          <a:prstGeom prst="rect">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Master Slide">
  <p:cSld name="02 Master Slide">
    <p:spTree>
      <p:nvGrpSpPr>
        <p:cNvPr id="118" name="Shape 118"/>
        <p:cNvGrpSpPr/>
        <p:nvPr/>
      </p:nvGrpSpPr>
      <p:grpSpPr>
        <a:xfrm>
          <a:off x="0" y="0"/>
          <a:ext cx="0" cy="0"/>
          <a:chOff x="0" y="0"/>
          <a:chExt cx="0" cy="0"/>
        </a:xfrm>
      </p:grpSpPr>
      <p:sp>
        <p:nvSpPr>
          <p:cNvPr id="119" name="Google Shape;119;g3e038e53ae8_0_149"/>
          <p:cNvSpPr/>
          <p:nvPr>
            <p:ph idx="2" type="pic"/>
          </p:nvPr>
        </p:nvSpPr>
        <p:spPr>
          <a:xfrm>
            <a:off x="0" y="0"/>
            <a:ext cx="9144000" cy="5143500"/>
          </a:xfrm>
          <a:prstGeom prst="rect">
            <a:avLst/>
          </a:prstGeom>
          <a:solidFill>
            <a:schemeClr val="lt1"/>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Master Slide">
  <p:cSld name="13 Master Slide">
    <p:spTree>
      <p:nvGrpSpPr>
        <p:cNvPr id="120" name="Shape 120"/>
        <p:cNvGrpSpPr/>
        <p:nvPr/>
      </p:nvGrpSpPr>
      <p:grpSpPr>
        <a:xfrm>
          <a:off x="0" y="0"/>
          <a:ext cx="0" cy="0"/>
          <a:chOff x="0" y="0"/>
          <a:chExt cx="0" cy="0"/>
        </a:xfrm>
      </p:grpSpPr>
      <p:sp>
        <p:nvSpPr>
          <p:cNvPr id="121" name="Google Shape;121;g3e038e53ae8_0_151"/>
          <p:cNvSpPr/>
          <p:nvPr>
            <p:ph idx="2" type="pic"/>
          </p:nvPr>
        </p:nvSpPr>
        <p:spPr>
          <a:xfrm>
            <a:off x="0" y="0"/>
            <a:ext cx="2962500" cy="5143500"/>
          </a:xfrm>
          <a:prstGeom prst="rect">
            <a:avLst/>
          </a:prstGeom>
          <a:solidFill>
            <a:schemeClr val="lt1"/>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Master Slide">
  <p:cSld name="17 Master Slide">
    <p:spTree>
      <p:nvGrpSpPr>
        <p:cNvPr id="122" name="Shape 122"/>
        <p:cNvGrpSpPr/>
        <p:nvPr/>
      </p:nvGrpSpPr>
      <p:grpSpPr>
        <a:xfrm>
          <a:off x="0" y="0"/>
          <a:ext cx="0" cy="0"/>
          <a:chOff x="0" y="0"/>
          <a:chExt cx="0" cy="0"/>
        </a:xfrm>
      </p:grpSpPr>
      <p:sp>
        <p:nvSpPr>
          <p:cNvPr id="123" name="Google Shape;123;g3e038e53ae8_0_153"/>
          <p:cNvSpPr/>
          <p:nvPr>
            <p:ph idx="2" type="pic"/>
          </p:nvPr>
        </p:nvSpPr>
        <p:spPr>
          <a:xfrm>
            <a:off x="1245428" y="2041031"/>
            <a:ext cx="6653100" cy="2430900"/>
          </a:xfrm>
          <a:prstGeom prst="rect">
            <a:avLst/>
          </a:prstGeom>
          <a:solidFill>
            <a:schemeClr val="lt1"/>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Master Slide">
  <p:cSld name="19 Master Slide">
    <p:spTree>
      <p:nvGrpSpPr>
        <p:cNvPr id="124" name="Shape 124"/>
        <p:cNvGrpSpPr/>
        <p:nvPr/>
      </p:nvGrpSpPr>
      <p:grpSpPr>
        <a:xfrm>
          <a:off x="0" y="0"/>
          <a:ext cx="0" cy="0"/>
          <a:chOff x="0" y="0"/>
          <a:chExt cx="0" cy="0"/>
        </a:xfrm>
      </p:grpSpPr>
      <p:sp>
        <p:nvSpPr>
          <p:cNvPr id="125" name="Google Shape;125;g3e038e53ae8_0_155"/>
          <p:cNvSpPr/>
          <p:nvPr>
            <p:ph idx="2" type="pic"/>
          </p:nvPr>
        </p:nvSpPr>
        <p:spPr>
          <a:xfrm>
            <a:off x="572941" y="2682554"/>
            <a:ext cx="1558500" cy="536100"/>
          </a:xfrm>
          <a:prstGeom prst="rect">
            <a:avLst/>
          </a:prstGeom>
          <a:noFill/>
          <a:ln>
            <a:noFill/>
          </a:ln>
        </p:spPr>
      </p:sp>
      <p:sp>
        <p:nvSpPr>
          <p:cNvPr id="126" name="Google Shape;126;g3e038e53ae8_0_155"/>
          <p:cNvSpPr/>
          <p:nvPr>
            <p:ph idx="3" type="pic"/>
          </p:nvPr>
        </p:nvSpPr>
        <p:spPr>
          <a:xfrm>
            <a:off x="2724150" y="2682554"/>
            <a:ext cx="1558500" cy="536100"/>
          </a:xfrm>
          <a:prstGeom prst="rect">
            <a:avLst/>
          </a:prstGeom>
          <a:noFill/>
          <a:ln>
            <a:noFill/>
          </a:ln>
        </p:spPr>
      </p:sp>
      <p:sp>
        <p:nvSpPr>
          <p:cNvPr id="127" name="Google Shape;127;g3e038e53ae8_0_155"/>
          <p:cNvSpPr/>
          <p:nvPr>
            <p:ph idx="4" type="pic"/>
          </p:nvPr>
        </p:nvSpPr>
        <p:spPr>
          <a:xfrm>
            <a:off x="4875359" y="2682554"/>
            <a:ext cx="1558500" cy="536100"/>
          </a:xfrm>
          <a:prstGeom prst="rect">
            <a:avLst/>
          </a:prstGeom>
          <a:noFill/>
          <a:ln>
            <a:noFill/>
          </a:ln>
        </p:spPr>
      </p:sp>
      <p:sp>
        <p:nvSpPr>
          <p:cNvPr id="128" name="Google Shape;128;g3e038e53ae8_0_155"/>
          <p:cNvSpPr/>
          <p:nvPr>
            <p:ph idx="5" type="pic"/>
          </p:nvPr>
        </p:nvSpPr>
        <p:spPr>
          <a:xfrm>
            <a:off x="7026568" y="2682553"/>
            <a:ext cx="1558500" cy="536100"/>
          </a:xfrm>
          <a:prstGeom prst="rect">
            <a:avLst/>
          </a:prstGeom>
          <a:noFill/>
          <a:ln>
            <a:noFill/>
          </a:ln>
        </p:spPr>
      </p:sp>
      <p:sp>
        <p:nvSpPr>
          <p:cNvPr id="129" name="Google Shape;129;g3e038e53ae8_0_155"/>
          <p:cNvSpPr/>
          <p:nvPr>
            <p:ph idx="6" type="pic"/>
          </p:nvPr>
        </p:nvSpPr>
        <p:spPr>
          <a:xfrm>
            <a:off x="1652928" y="3602516"/>
            <a:ext cx="1558500" cy="536100"/>
          </a:xfrm>
          <a:prstGeom prst="rect">
            <a:avLst/>
          </a:prstGeom>
          <a:noFill/>
          <a:ln>
            <a:noFill/>
          </a:ln>
        </p:spPr>
      </p:sp>
      <p:sp>
        <p:nvSpPr>
          <p:cNvPr id="130" name="Google Shape;130;g3e038e53ae8_0_155"/>
          <p:cNvSpPr/>
          <p:nvPr>
            <p:ph idx="7" type="pic"/>
          </p:nvPr>
        </p:nvSpPr>
        <p:spPr>
          <a:xfrm>
            <a:off x="3804137" y="3602516"/>
            <a:ext cx="1558500" cy="536100"/>
          </a:xfrm>
          <a:prstGeom prst="rect">
            <a:avLst/>
          </a:prstGeom>
          <a:noFill/>
          <a:ln>
            <a:noFill/>
          </a:ln>
        </p:spPr>
      </p:sp>
      <p:sp>
        <p:nvSpPr>
          <p:cNvPr id="131" name="Google Shape;131;g3e038e53ae8_0_155"/>
          <p:cNvSpPr/>
          <p:nvPr>
            <p:ph idx="8" type="pic"/>
          </p:nvPr>
        </p:nvSpPr>
        <p:spPr>
          <a:xfrm>
            <a:off x="5955346" y="3602515"/>
            <a:ext cx="1558500" cy="5361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aster Slide">
  <p:cSld name="20 Master Slide">
    <p:spTree>
      <p:nvGrpSpPr>
        <p:cNvPr id="132" name="Shape 132"/>
        <p:cNvGrpSpPr/>
        <p:nvPr/>
      </p:nvGrpSpPr>
      <p:grpSpPr>
        <a:xfrm>
          <a:off x="0" y="0"/>
          <a:ext cx="0" cy="0"/>
          <a:chOff x="0" y="0"/>
          <a:chExt cx="0" cy="0"/>
        </a:xfrm>
      </p:grpSpPr>
      <p:sp>
        <p:nvSpPr>
          <p:cNvPr id="133" name="Google Shape;133;g3e038e53ae8_0_163"/>
          <p:cNvSpPr/>
          <p:nvPr>
            <p:ph idx="2" type="pic"/>
          </p:nvPr>
        </p:nvSpPr>
        <p:spPr>
          <a:xfrm>
            <a:off x="2084997" y="1941961"/>
            <a:ext cx="1244400" cy="1812300"/>
          </a:xfrm>
          <a:prstGeom prst="rect">
            <a:avLst/>
          </a:prstGeom>
          <a:solidFill>
            <a:schemeClr val="lt1"/>
          </a:solidFill>
          <a:ln>
            <a:noFill/>
          </a:ln>
        </p:spPr>
      </p:sp>
      <p:sp>
        <p:nvSpPr>
          <p:cNvPr id="134" name="Google Shape;134;g3e038e53ae8_0_163"/>
          <p:cNvSpPr/>
          <p:nvPr>
            <p:ph idx="3" type="pic"/>
          </p:nvPr>
        </p:nvSpPr>
        <p:spPr>
          <a:xfrm>
            <a:off x="3327605" y="2202229"/>
            <a:ext cx="1244400" cy="1812300"/>
          </a:xfrm>
          <a:prstGeom prst="rect">
            <a:avLst/>
          </a:prstGeom>
          <a:solidFill>
            <a:schemeClr val="lt1"/>
          </a:solidFill>
          <a:ln>
            <a:noFill/>
          </a:ln>
        </p:spPr>
      </p:sp>
      <p:sp>
        <p:nvSpPr>
          <p:cNvPr id="135" name="Google Shape;135;g3e038e53ae8_0_163"/>
          <p:cNvSpPr/>
          <p:nvPr>
            <p:ph idx="4" type="pic"/>
          </p:nvPr>
        </p:nvSpPr>
        <p:spPr>
          <a:xfrm>
            <a:off x="4570214" y="1941961"/>
            <a:ext cx="1244400" cy="1812300"/>
          </a:xfrm>
          <a:prstGeom prst="rect">
            <a:avLst/>
          </a:prstGeom>
          <a:solidFill>
            <a:schemeClr val="lt1"/>
          </a:solidFill>
          <a:ln>
            <a:noFill/>
          </a:ln>
        </p:spPr>
      </p:sp>
      <p:sp>
        <p:nvSpPr>
          <p:cNvPr id="136" name="Google Shape;136;g3e038e53ae8_0_163"/>
          <p:cNvSpPr/>
          <p:nvPr>
            <p:ph idx="5" type="pic"/>
          </p:nvPr>
        </p:nvSpPr>
        <p:spPr>
          <a:xfrm>
            <a:off x="5816394" y="2198915"/>
            <a:ext cx="1244400" cy="1812300"/>
          </a:xfrm>
          <a:prstGeom prst="rect">
            <a:avLst/>
          </a:prstGeom>
          <a:solidFill>
            <a:schemeClr val="lt1"/>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Master Slide">
  <p:cSld name="21 Master Slide">
    <p:spTree>
      <p:nvGrpSpPr>
        <p:cNvPr id="137" name="Shape 137"/>
        <p:cNvGrpSpPr/>
        <p:nvPr/>
      </p:nvGrpSpPr>
      <p:grpSpPr>
        <a:xfrm>
          <a:off x="0" y="0"/>
          <a:ext cx="0" cy="0"/>
          <a:chOff x="0" y="0"/>
          <a:chExt cx="0" cy="0"/>
        </a:xfrm>
      </p:grpSpPr>
      <p:sp>
        <p:nvSpPr>
          <p:cNvPr id="138" name="Google Shape;138;g3e038e53ae8_0_168"/>
          <p:cNvSpPr/>
          <p:nvPr>
            <p:ph idx="2" type="pic"/>
          </p:nvPr>
        </p:nvSpPr>
        <p:spPr>
          <a:xfrm>
            <a:off x="5114926" y="0"/>
            <a:ext cx="4029000" cy="5143500"/>
          </a:xfrm>
          <a:prstGeom prst="rect">
            <a:avLst/>
          </a:prstGeom>
          <a:solidFill>
            <a:schemeClr val="lt1"/>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Master Slide">
  <p:cSld name="24 Master Slide">
    <p:spTree>
      <p:nvGrpSpPr>
        <p:cNvPr id="139" name="Shape 139"/>
        <p:cNvGrpSpPr/>
        <p:nvPr/>
      </p:nvGrpSpPr>
      <p:grpSpPr>
        <a:xfrm>
          <a:off x="0" y="0"/>
          <a:ext cx="0" cy="0"/>
          <a:chOff x="0" y="0"/>
          <a:chExt cx="0" cy="0"/>
        </a:xfrm>
      </p:grpSpPr>
      <p:sp>
        <p:nvSpPr>
          <p:cNvPr id="140" name="Google Shape;140;g3e038e53ae8_0_170"/>
          <p:cNvSpPr/>
          <p:nvPr>
            <p:ph idx="2" type="pic"/>
          </p:nvPr>
        </p:nvSpPr>
        <p:spPr>
          <a:xfrm>
            <a:off x="3510886" y="1151591"/>
            <a:ext cx="3251700" cy="1957200"/>
          </a:xfrm>
          <a:prstGeom prst="rect">
            <a:avLst/>
          </a:prstGeom>
          <a:solidFill>
            <a:schemeClr val="lt1"/>
          </a:solidFill>
          <a:ln>
            <a:noFill/>
          </a:ln>
        </p:spPr>
      </p:sp>
      <p:sp>
        <p:nvSpPr>
          <p:cNvPr id="141" name="Google Shape;141;g3e038e53ae8_0_170"/>
          <p:cNvSpPr/>
          <p:nvPr>
            <p:ph idx="3" type="pic"/>
          </p:nvPr>
        </p:nvSpPr>
        <p:spPr>
          <a:xfrm>
            <a:off x="6831470" y="678988"/>
            <a:ext cx="1967700" cy="1184400"/>
          </a:xfrm>
          <a:prstGeom prst="rect">
            <a:avLst/>
          </a:prstGeom>
          <a:solidFill>
            <a:schemeClr val="lt1"/>
          </a:solidFill>
          <a:ln>
            <a:noFill/>
          </a:ln>
        </p:spPr>
      </p:sp>
      <p:sp>
        <p:nvSpPr>
          <p:cNvPr id="142" name="Google Shape;142;g3e038e53ae8_0_170"/>
          <p:cNvSpPr/>
          <p:nvPr>
            <p:ph idx="4" type="pic"/>
          </p:nvPr>
        </p:nvSpPr>
        <p:spPr>
          <a:xfrm>
            <a:off x="6831470" y="1920418"/>
            <a:ext cx="1967700" cy="1184400"/>
          </a:xfrm>
          <a:prstGeom prst="rect">
            <a:avLst/>
          </a:prstGeom>
          <a:solidFill>
            <a:schemeClr val="lt1"/>
          </a:solidFill>
          <a:ln>
            <a:noFill/>
          </a:ln>
        </p:spPr>
      </p:sp>
      <p:sp>
        <p:nvSpPr>
          <p:cNvPr id="143" name="Google Shape;143;g3e038e53ae8_0_170"/>
          <p:cNvSpPr/>
          <p:nvPr>
            <p:ph idx="5" type="pic"/>
          </p:nvPr>
        </p:nvSpPr>
        <p:spPr>
          <a:xfrm>
            <a:off x="5827514" y="2553890"/>
            <a:ext cx="2625900" cy="1580700"/>
          </a:xfrm>
          <a:prstGeom prst="rect">
            <a:avLst/>
          </a:prstGeom>
          <a:solidFill>
            <a:schemeClr val="lt1"/>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Master Slide">
  <p:cSld name="22 Master Slide">
    <p:spTree>
      <p:nvGrpSpPr>
        <p:cNvPr id="144" name="Shape 144"/>
        <p:cNvGrpSpPr/>
        <p:nvPr/>
      </p:nvGrpSpPr>
      <p:grpSpPr>
        <a:xfrm>
          <a:off x="0" y="0"/>
          <a:ext cx="0" cy="0"/>
          <a:chOff x="0" y="0"/>
          <a:chExt cx="0" cy="0"/>
        </a:xfrm>
      </p:grpSpPr>
      <p:sp>
        <p:nvSpPr>
          <p:cNvPr id="145" name="Google Shape;145;g3e038e53ae8_0_175"/>
          <p:cNvSpPr/>
          <p:nvPr>
            <p:ph idx="2" type="pic"/>
          </p:nvPr>
        </p:nvSpPr>
        <p:spPr>
          <a:xfrm>
            <a:off x="4795160" y="1777490"/>
            <a:ext cx="1310700" cy="2856900"/>
          </a:xfrm>
          <a:prstGeom prst="rect">
            <a:avLst/>
          </a:prstGeom>
          <a:solidFill>
            <a:schemeClr val="lt1"/>
          </a:solidFill>
          <a:ln>
            <a:noFill/>
          </a:ln>
        </p:spPr>
      </p:sp>
      <p:sp>
        <p:nvSpPr>
          <p:cNvPr id="146" name="Google Shape;146;g3e038e53ae8_0_175"/>
          <p:cNvSpPr/>
          <p:nvPr>
            <p:ph idx="3" type="pic"/>
          </p:nvPr>
        </p:nvSpPr>
        <p:spPr>
          <a:xfrm>
            <a:off x="3543139" y="2101364"/>
            <a:ext cx="953700" cy="2078700"/>
          </a:xfrm>
          <a:prstGeom prst="rect">
            <a:avLst/>
          </a:prstGeom>
          <a:solidFill>
            <a:schemeClr val="lt1"/>
          </a:solidFill>
          <a:ln>
            <a:noFill/>
          </a:ln>
        </p:spPr>
      </p:sp>
      <p:sp>
        <p:nvSpPr>
          <p:cNvPr id="147" name="Google Shape;147;g3e038e53ae8_0_175"/>
          <p:cNvSpPr/>
          <p:nvPr>
            <p:ph idx="4" type="pic"/>
          </p:nvPr>
        </p:nvSpPr>
        <p:spPr>
          <a:xfrm>
            <a:off x="6404045" y="2101364"/>
            <a:ext cx="953700" cy="2078700"/>
          </a:xfrm>
          <a:prstGeom prst="rect">
            <a:avLst/>
          </a:prstGeom>
          <a:solidFill>
            <a:schemeClr val="lt1"/>
          </a:solidFill>
          <a:ln>
            <a:noFill/>
          </a:ln>
        </p:spPr>
      </p:sp>
      <p:sp>
        <p:nvSpPr>
          <p:cNvPr id="148" name="Google Shape;148;g3e038e53ae8_0_175"/>
          <p:cNvSpPr/>
          <p:nvPr>
            <p:ph idx="5" type="pic"/>
          </p:nvPr>
        </p:nvSpPr>
        <p:spPr>
          <a:xfrm>
            <a:off x="7570313" y="2101364"/>
            <a:ext cx="953700" cy="2078700"/>
          </a:xfrm>
          <a:prstGeom prst="rect">
            <a:avLst/>
          </a:prstGeom>
          <a:solidFill>
            <a:schemeClr val="lt1"/>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Master Slide">
  <p:cSld name="23 Master Slide">
    <p:spTree>
      <p:nvGrpSpPr>
        <p:cNvPr id="149" name="Shape 149"/>
        <p:cNvGrpSpPr/>
        <p:nvPr/>
      </p:nvGrpSpPr>
      <p:grpSpPr>
        <a:xfrm>
          <a:off x="0" y="0"/>
          <a:ext cx="0" cy="0"/>
          <a:chOff x="0" y="0"/>
          <a:chExt cx="0" cy="0"/>
        </a:xfrm>
      </p:grpSpPr>
      <p:sp>
        <p:nvSpPr>
          <p:cNvPr id="150" name="Google Shape;150;g3e038e53ae8_0_180"/>
          <p:cNvSpPr/>
          <p:nvPr>
            <p:ph idx="2" type="pic"/>
          </p:nvPr>
        </p:nvSpPr>
        <p:spPr>
          <a:xfrm>
            <a:off x="502444" y="2793156"/>
            <a:ext cx="2421600" cy="1452000"/>
          </a:xfrm>
          <a:prstGeom prst="rect">
            <a:avLst/>
          </a:prstGeom>
          <a:solidFill>
            <a:schemeClr val="lt1"/>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51" name="Shape 151"/>
        <p:cNvGrpSpPr/>
        <p:nvPr/>
      </p:nvGrpSpPr>
      <p:grpSpPr>
        <a:xfrm>
          <a:off x="0" y="0"/>
          <a:ext cx="0" cy="0"/>
          <a:chOff x="0" y="0"/>
          <a:chExt cx="0" cy="0"/>
        </a:xfrm>
      </p:grpSpPr>
      <p:sp>
        <p:nvSpPr>
          <p:cNvPr id="152" name="Google Shape;152;g3e038e53ae8_0_182"/>
          <p:cNvSpPr/>
          <p:nvPr>
            <p:ph idx="2" type="pic"/>
          </p:nvPr>
        </p:nvSpPr>
        <p:spPr>
          <a:xfrm>
            <a:off x="3479216" y="241300"/>
            <a:ext cx="2655000" cy="2239500"/>
          </a:xfrm>
          <a:prstGeom prst="rect">
            <a:avLst/>
          </a:prstGeom>
          <a:solidFill>
            <a:schemeClr val="lt1"/>
          </a:solidFill>
          <a:ln>
            <a:noFill/>
          </a:ln>
        </p:spPr>
      </p:sp>
      <p:sp>
        <p:nvSpPr>
          <p:cNvPr id="153" name="Google Shape;153;g3e038e53ae8_0_182"/>
          <p:cNvSpPr/>
          <p:nvPr>
            <p:ph idx="3" type="pic"/>
          </p:nvPr>
        </p:nvSpPr>
        <p:spPr>
          <a:xfrm>
            <a:off x="6261427" y="241301"/>
            <a:ext cx="2651700" cy="2239500"/>
          </a:xfrm>
          <a:prstGeom prst="rect">
            <a:avLst/>
          </a:prstGeom>
          <a:solidFill>
            <a:schemeClr val="lt1"/>
          </a:solidFill>
          <a:ln>
            <a:noFill/>
          </a:ln>
        </p:spPr>
      </p:sp>
      <p:sp>
        <p:nvSpPr>
          <p:cNvPr id="154" name="Google Shape;154;g3e038e53ae8_0_182"/>
          <p:cNvSpPr/>
          <p:nvPr>
            <p:ph idx="4" type="pic"/>
          </p:nvPr>
        </p:nvSpPr>
        <p:spPr>
          <a:xfrm>
            <a:off x="238226" y="2632076"/>
            <a:ext cx="3120300" cy="2270100"/>
          </a:xfrm>
          <a:prstGeom prst="rect">
            <a:avLst/>
          </a:prstGeom>
          <a:solidFill>
            <a:schemeClr val="lt1"/>
          </a:solidFill>
          <a:ln>
            <a:noFill/>
          </a:ln>
        </p:spPr>
      </p:sp>
      <p:sp>
        <p:nvSpPr>
          <p:cNvPr id="155" name="Google Shape;155;g3e038e53ae8_0_182"/>
          <p:cNvSpPr/>
          <p:nvPr>
            <p:ph idx="5" type="pic"/>
          </p:nvPr>
        </p:nvSpPr>
        <p:spPr>
          <a:xfrm>
            <a:off x="238227" y="241300"/>
            <a:ext cx="3113700" cy="2270100"/>
          </a:xfrm>
          <a:prstGeom prst="rect">
            <a:avLst/>
          </a:prstGeom>
          <a:solidFill>
            <a:schemeClr val="lt1"/>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 Master Slide">
  <p:cSld name="26 Master Slide">
    <p:spTree>
      <p:nvGrpSpPr>
        <p:cNvPr id="156" name="Shape 156"/>
        <p:cNvGrpSpPr/>
        <p:nvPr/>
      </p:nvGrpSpPr>
      <p:grpSpPr>
        <a:xfrm>
          <a:off x="0" y="0"/>
          <a:ext cx="0" cy="0"/>
          <a:chOff x="0" y="0"/>
          <a:chExt cx="0" cy="0"/>
        </a:xfrm>
      </p:grpSpPr>
      <p:sp>
        <p:nvSpPr>
          <p:cNvPr id="157" name="Google Shape;157;g3e038e53ae8_0_187"/>
          <p:cNvSpPr/>
          <p:nvPr>
            <p:ph idx="2" type="pic"/>
          </p:nvPr>
        </p:nvSpPr>
        <p:spPr>
          <a:xfrm>
            <a:off x="522000" y="519100"/>
            <a:ext cx="1620000" cy="4105500"/>
          </a:xfrm>
          <a:prstGeom prst="rect">
            <a:avLst/>
          </a:prstGeom>
          <a:solidFill>
            <a:schemeClr val="lt1"/>
          </a:solidFill>
          <a:ln>
            <a:noFill/>
          </a:ln>
        </p:spPr>
      </p:sp>
      <p:sp>
        <p:nvSpPr>
          <p:cNvPr id="158" name="Google Shape;158;g3e038e53ae8_0_187"/>
          <p:cNvSpPr/>
          <p:nvPr>
            <p:ph idx="3" type="pic"/>
          </p:nvPr>
        </p:nvSpPr>
        <p:spPr>
          <a:xfrm>
            <a:off x="2142000" y="519100"/>
            <a:ext cx="1620000" cy="4105500"/>
          </a:xfrm>
          <a:prstGeom prst="rect">
            <a:avLst/>
          </a:prstGeom>
          <a:solidFill>
            <a:schemeClr val="lt1"/>
          </a:solidFill>
          <a:ln>
            <a:noFill/>
          </a:ln>
        </p:spPr>
      </p:sp>
      <p:sp>
        <p:nvSpPr>
          <p:cNvPr id="159" name="Google Shape;159;g3e038e53ae8_0_187"/>
          <p:cNvSpPr/>
          <p:nvPr>
            <p:ph idx="4" type="pic"/>
          </p:nvPr>
        </p:nvSpPr>
        <p:spPr>
          <a:xfrm>
            <a:off x="3762000" y="519100"/>
            <a:ext cx="1620000" cy="4105500"/>
          </a:xfrm>
          <a:prstGeom prst="rect">
            <a:avLst/>
          </a:prstGeom>
          <a:solidFill>
            <a:schemeClr val="lt1"/>
          </a:solidFill>
          <a:ln>
            <a:noFill/>
          </a:ln>
        </p:spPr>
      </p:sp>
      <p:sp>
        <p:nvSpPr>
          <p:cNvPr id="160" name="Google Shape;160;g3e038e53ae8_0_187"/>
          <p:cNvSpPr/>
          <p:nvPr>
            <p:ph idx="5" type="pic"/>
          </p:nvPr>
        </p:nvSpPr>
        <p:spPr>
          <a:xfrm>
            <a:off x="5382000" y="519100"/>
            <a:ext cx="1620000" cy="4105500"/>
          </a:xfrm>
          <a:prstGeom prst="rect">
            <a:avLst/>
          </a:prstGeom>
          <a:solidFill>
            <a:schemeClr val="lt1"/>
          </a:solidFill>
          <a:ln>
            <a:noFill/>
          </a:ln>
        </p:spPr>
      </p:sp>
      <p:sp>
        <p:nvSpPr>
          <p:cNvPr id="161" name="Google Shape;161;g3e038e53ae8_0_187"/>
          <p:cNvSpPr/>
          <p:nvPr>
            <p:ph idx="6" type="pic"/>
          </p:nvPr>
        </p:nvSpPr>
        <p:spPr>
          <a:xfrm>
            <a:off x="7002000" y="519100"/>
            <a:ext cx="1620000" cy="4105500"/>
          </a:xfrm>
          <a:prstGeom prst="rect">
            <a:avLst/>
          </a:prstGeom>
          <a:solidFill>
            <a:schemeClr val="lt1"/>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Master Slide">
  <p:cSld name="03 Master Slide">
    <p:spTree>
      <p:nvGrpSpPr>
        <p:cNvPr id="162" name="Shape 162"/>
        <p:cNvGrpSpPr/>
        <p:nvPr/>
      </p:nvGrpSpPr>
      <p:grpSpPr>
        <a:xfrm>
          <a:off x="0" y="0"/>
          <a:ext cx="0" cy="0"/>
          <a:chOff x="0" y="0"/>
          <a:chExt cx="0" cy="0"/>
        </a:xfrm>
      </p:grpSpPr>
      <p:sp>
        <p:nvSpPr>
          <p:cNvPr id="163" name="Google Shape;163;g3e038e53ae8_0_193"/>
          <p:cNvSpPr/>
          <p:nvPr>
            <p:ph idx="2" type="pic"/>
          </p:nvPr>
        </p:nvSpPr>
        <p:spPr>
          <a:xfrm>
            <a:off x="0" y="0"/>
            <a:ext cx="4572000" cy="5143500"/>
          </a:xfrm>
          <a:prstGeom prst="rect">
            <a:avLst/>
          </a:prstGeom>
          <a:solidFill>
            <a:schemeClr val="lt1"/>
          </a:solid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Master Slide">
  <p:cSld name="05 Master Slide">
    <p:spTree>
      <p:nvGrpSpPr>
        <p:cNvPr id="164" name="Shape 164"/>
        <p:cNvGrpSpPr/>
        <p:nvPr/>
      </p:nvGrpSpPr>
      <p:grpSpPr>
        <a:xfrm>
          <a:off x="0" y="0"/>
          <a:ext cx="0" cy="0"/>
          <a:chOff x="0" y="0"/>
          <a:chExt cx="0" cy="0"/>
        </a:xfrm>
      </p:grpSpPr>
      <p:sp>
        <p:nvSpPr>
          <p:cNvPr id="165" name="Google Shape;165;g3e038e53ae8_0_195"/>
          <p:cNvSpPr/>
          <p:nvPr>
            <p:ph idx="2" type="pic"/>
          </p:nvPr>
        </p:nvSpPr>
        <p:spPr>
          <a:xfrm>
            <a:off x="0" y="0"/>
            <a:ext cx="2427600" cy="5143500"/>
          </a:xfrm>
          <a:prstGeom prst="rect">
            <a:avLst/>
          </a:prstGeom>
          <a:solidFill>
            <a:schemeClr val="lt1"/>
          </a:solidFill>
          <a:ln>
            <a:noFill/>
          </a:ln>
        </p:spPr>
      </p:sp>
      <p:sp>
        <p:nvSpPr>
          <p:cNvPr id="166" name="Google Shape;166;g3e038e53ae8_0_195"/>
          <p:cNvSpPr/>
          <p:nvPr>
            <p:ph idx="3" type="pic"/>
          </p:nvPr>
        </p:nvSpPr>
        <p:spPr>
          <a:xfrm>
            <a:off x="1288596" y="2242457"/>
            <a:ext cx="2277900" cy="2277900"/>
          </a:xfrm>
          <a:prstGeom prst="rect">
            <a:avLst/>
          </a:prstGeom>
          <a:solidFill>
            <a:schemeClr val="lt1"/>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Master Slide">
  <p:cSld name="10 Master Slide">
    <p:spTree>
      <p:nvGrpSpPr>
        <p:cNvPr id="167" name="Shape 167"/>
        <p:cNvGrpSpPr/>
        <p:nvPr/>
      </p:nvGrpSpPr>
      <p:grpSpPr>
        <a:xfrm>
          <a:off x="0" y="0"/>
          <a:ext cx="0" cy="0"/>
          <a:chOff x="0" y="0"/>
          <a:chExt cx="0" cy="0"/>
        </a:xfrm>
      </p:grpSpPr>
      <p:sp>
        <p:nvSpPr>
          <p:cNvPr id="168" name="Google Shape;168;g3e038e53ae8_0_198"/>
          <p:cNvSpPr/>
          <p:nvPr>
            <p:ph idx="2" type="pic"/>
          </p:nvPr>
        </p:nvSpPr>
        <p:spPr>
          <a:xfrm>
            <a:off x="508113" y="2707277"/>
            <a:ext cx="1391100" cy="1889700"/>
          </a:xfrm>
          <a:prstGeom prst="rect">
            <a:avLst/>
          </a:prstGeom>
          <a:solidFill>
            <a:schemeClr val="lt1"/>
          </a:solidFill>
          <a:ln>
            <a:noFill/>
          </a:ln>
        </p:spPr>
      </p:sp>
      <p:sp>
        <p:nvSpPr>
          <p:cNvPr id="169" name="Google Shape;169;g3e038e53ae8_0_198"/>
          <p:cNvSpPr/>
          <p:nvPr>
            <p:ph idx="3" type="pic"/>
          </p:nvPr>
        </p:nvSpPr>
        <p:spPr>
          <a:xfrm>
            <a:off x="4890089" y="2707277"/>
            <a:ext cx="1391100" cy="1889700"/>
          </a:xfrm>
          <a:prstGeom prst="rect">
            <a:avLst/>
          </a:prstGeom>
          <a:solidFill>
            <a:schemeClr val="lt1"/>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Master Slide Layout">
  <p:cSld name="12 Master Slide Layout">
    <p:spTree>
      <p:nvGrpSpPr>
        <p:cNvPr id="170" name="Shape 170"/>
        <p:cNvGrpSpPr/>
        <p:nvPr/>
      </p:nvGrpSpPr>
      <p:grpSpPr>
        <a:xfrm>
          <a:off x="0" y="0"/>
          <a:ext cx="0" cy="0"/>
          <a:chOff x="0" y="0"/>
          <a:chExt cx="0" cy="0"/>
        </a:xfrm>
      </p:grpSpPr>
      <p:sp>
        <p:nvSpPr>
          <p:cNvPr id="171" name="Google Shape;171;g3e038e53ae8_0_201"/>
          <p:cNvSpPr/>
          <p:nvPr>
            <p:ph idx="2" type="pic"/>
          </p:nvPr>
        </p:nvSpPr>
        <p:spPr>
          <a:xfrm>
            <a:off x="805543" y="1491343"/>
            <a:ext cx="7543800" cy="2166300"/>
          </a:xfrm>
          <a:prstGeom prst="rect">
            <a:avLst/>
          </a:prstGeom>
          <a:solidFill>
            <a:schemeClr val="lt1"/>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Master Slide">
  <p:cSld name="15 Master Slide">
    <p:spTree>
      <p:nvGrpSpPr>
        <p:cNvPr id="172" name="Shape 172"/>
        <p:cNvGrpSpPr/>
        <p:nvPr/>
      </p:nvGrpSpPr>
      <p:grpSpPr>
        <a:xfrm>
          <a:off x="0" y="0"/>
          <a:ext cx="0" cy="0"/>
          <a:chOff x="0" y="0"/>
          <a:chExt cx="0" cy="0"/>
        </a:xfrm>
      </p:grpSpPr>
      <p:sp>
        <p:nvSpPr>
          <p:cNvPr id="173" name="Google Shape;173;g3e038e53ae8_0_203"/>
          <p:cNvSpPr/>
          <p:nvPr>
            <p:ph idx="2" type="pic"/>
          </p:nvPr>
        </p:nvSpPr>
        <p:spPr>
          <a:xfrm>
            <a:off x="6172200" y="0"/>
            <a:ext cx="2971800" cy="5143500"/>
          </a:xfrm>
          <a:prstGeom prst="rect">
            <a:avLst/>
          </a:prstGeom>
          <a:solidFill>
            <a:schemeClr val="lt1"/>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Master Slide">
  <p:cSld name="25 Master Slide">
    <p:spTree>
      <p:nvGrpSpPr>
        <p:cNvPr id="174" name="Shape 174"/>
        <p:cNvGrpSpPr/>
        <p:nvPr/>
      </p:nvGrpSpPr>
      <p:grpSpPr>
        <a:xfrm>
          <a:off x="0" y="0"/>
          <a:ext cx="0" cy="0"/>
          <a:chOff x="0" y="0"/>
          <a:chExt cx="0" cy="0"/>
        </a:xfrm>
      </p:grpSpPr>
      <p:sp>
        <p:nvSpPr>
          <p:cNvPr id="175" name="Google Shape;175;g3e038e53ae8_0_205"/>
          <p:cNvSpPr/>
          <p:nvPr>
            <p:ph idx="2" type="pic"/>
          </p:nvPr>
        </p:nvSpPr>
        <p:spPr>
          <a:xfrm>
            <a:off x="1262743" y="1694321"/>
            <a:ext cx="1810500" cy="2636700"/>
          </a:xfrm>
          <a:prstGeom prst="rect">
            <a:avLst/>
          </a:prstGeom>
          <a:solidFill>
            <a:schemeClr val="lt1"/>
          </a:solidFill>
          <a:ln>
            <a:noFill/>
          </a:ln>
        </p:spPr>
      </p:sp>
      <p:sp>
        <p:nvSpPr>
          <p:cNvPr id="176" name="Google Shape;176;g3e038e53ae8_0_205"/>
          <p:cNvSpPr/>
          <p:nvPr>
            <p:ph idx="3" type="pic"/>
          </p:nvPr>
        </p:nvSpPr>
        <p:spPr>
          <a:xfrm>
            <a:off x="3073193" y="2292046"/>
            <a:ext cx="1810500" cy="2636700"/>
          </a:xfrm>
          <a:prstGeom prst="rect">
            <a:avLst/>
          </a:prstGeom>
          <a:solidFill>
            <a:schemeClr val="lt1"/>
          </a:solidFill>
          <a:ln>
            <a:noFill/>
          </a:ln>
        </p:spPr>
      </p:sp>
      <p:sp>
        <p:nvSpPr>
          <p:cNvPr id="177" name="Google Shape;177;g3e038e53ae8_0_205"/>
          <p:cNvSpPr/>
          <p:nvPr>
            <p:ph idx="4" type="pic"/>
          </p:nvPr>
        </p:nvSpPr>
        <p:spPr>
          <a:xfrm>
            <a:off x="4883644" y="1694321"/>
            <a:ext cx="1810500" cy="2636700"/>
          </a:xfrm>
          <a:prstGeom prst="rect">
            <a:avLst/>
          </a:prstGeom>
          <a:solidFill>
            <a:schemeClr val="lt1"/>
          </a:solidFill>
          <a:ln>
            <a:noFill/>
          </a:ln>
        </p:spPr>
      </p:sp>
      <p:sp>
        <p:nvSpPr>
          <p:cNvPr id="178" name="Google Shape;178;g3e038e53ae8_0_205"/>
          <p:cNvSpPr/>
          <p:nvPr>
            <p:ph idx="5" type="pic"/>
          </p:nvPr>
        </p:nvSpPr>
        <p:spPr>
          <a:xfrm>
            <a:off x="6694094" y="2288733"/>
            <a:ext cx="1810500" cy="2636700"/>
          </a:xfrm>
          <a:prstGeom prst="rect">
            <a:avLst/>
          </a:prstGeom>
          <a:solidFill>
            <a:schemeClr val="lt1"/>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9" name="Shape 179"/>
        <p:cNvGrpSpPr/>
        <p:nvPr/>
      </p:nvGrpSpPr>
      <p:grpSpPr>
        <a:xfrm>
          <a:off x="0" y="0"/>
          <a:ext cx="0" cy="0"/>
          <a:chOff x="0" y="0"/>
          <a:chExt cx="0" cy="0"/>
        </a:xfrm>
      </p:grpSpPr>
      <p:sp>
        <p:nvSpPr>
          <p:cNvPr id="180" name="Google Shape;180;g3e038e53ae8_0_210"/>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1" name="Google Shape;181;g3e038e53ae8_0_210"/>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61950" lvl="0" marL="457200">
              <a:spcBef>
                <a:spcPts val="800"/>
              </a:spcBef>
              <a:spcAft>
                <a:spcPts val="0"/>
              </a:spcAft>
              <a:buSzPts val="21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182" name="Google Shape;182;g3e038e53ae8_0_21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g3e038e53ae8_0_3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1" name="Google Shape;191;g3e038e53ae8_0_3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g3e038e53ae8_0_3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3" name="Google Shape;193;g3e038e53ae8_0_3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4" name="Google Shape;194;g3e038e53ae8_0_3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ormal">
  <p:cSld name="1_Normal">
    <p:spTree>
      <p:nvGrpSpPr>
        <p:cNvPr id="195" name="Shape 195"/>
        <p:cNvGrpSpPr/>
        <p:nvPr/>
      </p:nvGrpSpPr>
      <p:grpSpPr>
        <a:xfrm>
          <a:off x="0" y="0"/>
          <a:ext cx="0" cy="0"/>
          <a:chOff x="0" y="0"/>
          <a:chExt cx="0" cy="0"/>
        </a:xfrm>
      </p:grpSpPr>
      <p:sp>
        <p:nvSpPr>
          <p:cNvPr id="196" name="Google Shape;196;g3e038e53ae8_0_336"/>
          <p:cNvSpPr txBox="1"/>
          <p:nvPr>
            <p:ph type="title"/>
          </p:nvPr>
        </p:nvSpPr>
        <p:spPr>
          <a:xfrm>
            <a:off x="304800" y="209550"/>
            <a:ext cx="8229600" cy="4938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526F89"/>
              </a:buClr>
              <a:buSzPts val="2800"/>
              <a:buFont typeface="Avenir"/>
              <a:buNone/>
              <a:defRPr b="1" sz="2800">
                <a:solidFill>
                  <a:srgbClr val="526F89"/>
                </a:solidFill>
                <a:latin typeface="Avenir"/>
                <a:ea typeface="Avenir"/>
                <a:cs typeface="Avenir"/>
                <a:sym typeface="Aveni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7" name="Google Shape;197;g3e038e53ae8_0_336"/>
          <p:cNvSpPr txBox="1"/>
          <p:nvPr>
            <p:ph idx="1" type="body"/>
          </p:nvPr>
        </p:nvSpPr>
        <p:spPr>
          <a:xfrm>
            <a:off x="304800" y="895351"/>
            <a:ext cx="8229600" cy="3623100"/>
          </a:xfrm>
          <a:prstGeom prst="rect">
            <a:avLst/>
          </a:prstGeom>
          <a:noFill/>
          <a:ln>
            <a:noFill/>
          </a:ln>
        </p:spPr>
        <p:txBody>
          <a:bodyPr anchorCtr="0" anchor="t" bIns="34275" lIns="68575" spcFirstLastPara="1" rIns="68575" wrap="square" tIns="34275">
            <a:normAutofit/>
          </a:bodyPr>
          <a:lstStyle>
            <a:lvl1pPr indent="-355600" lvl="0" marL="457200" algn="l">
              <a:lnSpc>
                <a:spcPct val="114000"/>
              </a:lnSpc>
              <a:spcBef>
                <a:spcPts val="0"/>
              </a:spcBef>
              <a:spcAft>
                <a:spcPts val="0"/>
              </a:spcAft>
              <a:buClr>
                <a:srgbClr val="3984A4"/>
              </a:buClr>
              <a:buSzPts val="2000"/>
              <a:buChar char="•"/>
              <a:defRPr sz="2000">
                <a:solidFill>
                  <a:srgbClr val="383F51"/>
                </a:solidFill>
                <a:latin typeface="Avenir"/>
                <a:ea typeface="Avenir"/>
                <a:cs typeface="Avenir"/>
                <a:sym typeface="Avenir"/>
              </a:defRPr>
            </a:lvl1pPr>
            <a:lvl2pPr indent="-342900" lvl="1" marL="914400" algn="l">
              <a:lnSpc>
                <a:spcPct val="114000"/>
              </a:lnSpc>
              <a:spcBef>
                <a:spcPts val="700"/>
              </a:spcBef>
              <a:spcAft>
                <a:spcPts val="0"/>
              </a:spcAft>
              <a:buClr>
                <a:srgbClr val="3984A4"/>
              </a:buClr>
              <a:buSzPts val="1800"/>
              <a:buChar char="•"/>
              <a:defRPr sz="1800">
                <a:solidFill>
                  <a:srgbClr val="383F51"/>
                </a:solidFill>
                <a:latin typeface="Avenir"/>
                <a:ea typeface="Avenir"/>
                <a:cs typeface="Avenir"/>
                <a:sym typeface="Avenir"/>
              </a:defRPr>
            </a:lvl2pPr>
            <a:lvl3pPr indent="-330200" lvl="2" marL="1371600" algn="l">
              <a:lnSpc>
                <a:spcPct val="114000"/>
              </a:lnSpc>
              <a:spcBef>
                <a:spcPts val="700"/>
              </a:spcBef>
              <a:spcAft>
                <a:spcPts val="0"/>
              </a:spcAft>
              <a:buClr>
                <a:srgbClr val="3984A4"/>
              </a:buClr>
              <a:buSzPts val="1600"/>
              <a:buChar char="•"/>
              <a:defRPr sz="1600">
                <a:solidFill>
                  <a:srgbClr val="383F51"/>
                </a:solidFill>
                <a:latin typeface="Avenir"/>
                <a:ea typeface="Avenir"/>
                <a:cs typeface="Avenir"/>
                <a:sym typeface="Avenir"/>
              </a:defRPr>
            </a:lvl3pPr>
            <a:lvl4pPr indent="-317500" lvl="3" marL="1828800" algn="l">
              <a:lnSpc>
                <a:spcPct val="114000"/>
              </a:lnSpc>
              <a:spcBef>
                <a:spcPts val="700"/>
              </a:spcBef>
              <a:spcAft>
                <a:spcPts val="0"/>
              </a:spcAft>
              <a:buClr>
                <a:srgbClr val="3984A4"/>
              </a:buClr>
              <a:buSzPts val="1400"/>
              <a:buChar char="•"/>
              <a:defRPr sz="1400">
                <a:solidFill>
                  <a:srgbClr val="383F51"/>
                </a:solidFill>
                <a:latin typeface="Avenir"/>
                <a:ea typeface="Avenir"/>
                <a:cs typeface="Avenir"/>
                <a:sym typeface="Avenir"/>
              </a:defRPr>
            </a:lvl4pPr>
            <a:lvl5pPr indent="-304800" lvl="4" marL="2286000" algn="l">
              <a:lnSpc>
                <a:spcPct val="114000"/>
              </a:lnSpc>
              <a:spcBef>
                <a:spcPts val="700"/>
              </a:spcBef>
              <a:spcAft>
                <a:spcPts val="0"/>
              </a:spcAft>
              <a:buClr>
                <a:srgbClr val="3984A4"/>
              </a:buClr>
              <a:buSzPts val="1200"/>
              <a:buChar char="•"/>
              <a:defRPr sz="1200">
                <a:solidFill>
                  <a:srgbClr val="383F51"/>
                </a:solidFill>
                <a:latin typeface="Avenir"/>
                <a:ea typeface="Avenir"/>
                <a:cs typeface="Avenir"/>
                <a:sym typeface="Avenir"/>
              </a:defRPr>
            </a:lvl5pPr>
            <a:lvl6pPr indent="-273050" lvl="5" marL="2743200" algn="l">
              <a:lnSpc>
                <a:spcPct val="90000"/>
              </a:lnSpc>
              <a:spcBef>
                <a:spcPts val="700"/>
              </a:spcBef>
              <a:spcAft>
                <a:spcPts val="0"/>
              </a:spcAft>
              <a:buClr>
                <a:schemeClr val="dk1"/>
              </a:buClr>
              <a:buSzPts val="700"/>
              <a:buChar char="•"/>
              <a:defRPr sz="700"/>
            </a:lvl6pPr>
            <a:lvl7pPr indent="-273050" lvl="6" marL="3200400" algn="l">
              <a:lnSpc>
                <a:spcPct val="90000"/>
              </a:lnSpc>
              <a:spcBef>
                <a:spcPts val="400"/>
              </a:spcBef>
              <a:spcAft>
                <a:spcPts val="0"/>
              </a:spcAft>
              <a:buClr>
                <a:schemeClr val="dk1"/>
              </a:buClr>
              <a:buSzPts val="700"/>
              <a:buChar char="•"/>
              <a:defRPr sz="700"/>
            </a:lvl7pPr>
            <a:lvl8pPr indent="-273050" lvl="7" marL="3657600" algn="l">
              <a:lnSpc>
                <a:spcPct val="90000"/>
              </a:lnSpc>
              <a:spcBef>
                <a:spcPts val="400"/>
              </a:spcBef>
              <a:spcAft>
                <a:spcPts val="0"/>
              </a:spcAft>
              <a:buClr>
                <a:schemeClr val="dk1"/>
              </a:buClr>
              <a:buSzPts val="700"/>
              <a:buChar char="•"/>
              <a:defRPr sz="700"/>
            </a:lvl8pPr>
            <a:lvl9pPr indent="-273050" lvl="8" marL="4114800" algn="l">
              <a:lnSpc>
                <a:spcPct val="90000"/>
              </a:lnSpc>
              <a:spcBef>
                <a:spcPts val="400"/>
              </a:spcBef>
              <a:spcAft>
                <a:spcPts val="0"/>
              </a:spcAft>
              <a:buClr>
                <a:schemeClr val="dk1"/>
              </a:buClr>
              <a:buSzPts val="700"/>
              <a:buChar char="•"/>
              <a:defRPr sz="700"/>
            </a:lvl9pPr>
          </a:lstStyle>
          <a:p/>
        </p:txBody>
      </p:sp>
    </p:spTree>
  </p:cSld>
  <p:clrMapOvr>
    <a:masterClrMapping/>
  </p:clrMapOvr>
  <p:extLst>
    <p:ext uri="{DCECCB84-F9BA-43D5-87BE-67443E8EF086}">
      <p15:sldGuideLst>
        <p15:guide id="1" orient="horz" pos="1215">
          <p15:clr>
            <a:srgbClr val="FBAE40"/>
          </p15:clr>
        </p15:guide>
        <p15:guide id="2" pos="240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98" name="Shape 198"/>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Master Slide">
  <p:cSld name="09 Master Slide">
    <p:spTree>
      <p:nvGrpSpPr>
        <p:cNvPr id="199" name="Shape 199"/>
        <p:cNvGrpSpPr/>
        <p:nvPr/>
      </p:nvGrpSpPr>
      <p:grpSpPr>
        <a:xfrm>
          <a:off x="0" y="0"/>
          <a:ext cx="0" cy="0"/>
          <a:chOff x="0" y="0"/>
          <a:chExt cx="0" cy="0"/>
        </a:xfrm>
      </p:grpSpPr>
      <p:sp>
        <p:nvSpPr>
          <p:cNvPr id="200" name="Google Shape;200;g3e038e53ae8_0_340"/>
          <p:cNvSpPr/>
          <p:nvPr>
            <p:ph idx="2" type="pic"/>
          </p:nvPr>
        </p:nvSpPr>
        <p:spPr>
          <a:xfrm>
            <a:off x="540000" y="540000"/>
            <a:ext cx="2031900" cy="2031900"/>
          </a:xfrm>
          <a:prstGeom prst="rect">
            <a:avLst/>
          </a:prstGeom>
          <a:solidFill>
            <a:schemeClr val="lt1"/>
          </a:solidFill>
          <a:ln>
            <a:noFill/>
          </a:ln>
        </p:spPr>
      </p:sp>
      <p:sp>
        <p:nvSpPr>
          <p:cNvPr id="201" name="Google Shape;201;g3e038e53ae8_0_340"/>
          <p:cNvSpPr/>
          <p:nvPr>
            <p:ph idx="3" type="pic"/>
          </p:nvPr>
        </p:nvSpPr>
        <p:spPr>
          <a:xfrm>
            <a:off x="2571750" y="2571750"/>
            <a:ext cx="2031900" cy="2031900"/>
          </a:xfrm>
          <a:prstGeom prst="rect">
            <a:avLst/>
          </a:prstGeom>
          <a:solidFill>
            <a:schemeClr val="lt1"/>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2" name="Shape 202"/>
        <p:cNvGrpSpPr/>
        <p:nvPr/>
      </p:nvGrpSpPr>
      <p:grpSpPr>
        <a:xfrm>
          <a:off x="0" y="0"/>
          <a:ext cx="0" cy="0"/>
          <a:chOff x="0" y="0"/>
          <a:chExt cx="0" cy="0"/>
        </a:xfrm>
      </p:grpSpPr>
      <p:sp>
        <p:nvSpPr>
          <p:cNvPr id="203" name="Google Shape;203;g3e038e53ae8_0_343"/>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4" name="Google Shape;204;g3e038e53ae8_0_343"/>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5" name="Google Shape;205;g3e038e53ae8_0_34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6" name="Google Shape;206;g3e038e53ae8_0_3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7" name="Google Shape;207;g3e038e53ae8_0_3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8" name="Shape 208"/>
        <p:cNvGrpSpPr/>
        <p:nvPr/>
      </p:nvGrpSpPr>
      <p:grpSpPr>
        <a:xfrm>
          <a:off x="0" y="0"/>
          <a:ext cx="0" cy="0"/>
          <a:chOff x="0" y="0"/>
          <a:chExt cx="0" cy="0"/>
        </a:xfrm>
      </p:grpSpPr>
      <p:sp>
        <p:nvSpPr>
          <p:cNvPr id="209" name="Google Shape;209;g3e038e53ae8_0_34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0" name="Google Shape;210;g3e038e53ae8_0_34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11" name="Google Shape;211;g3e038e53ae8_0_3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2" name="Google Shape;212;g3e038e53ae8_0_3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3" name="Google Shape;213;g3e038e53ae8_0_3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4" name="Shape 214"/>
        <p:cNvGrpSpPr/>
        <p:nvPr/>
      </p:nvGrpSpPr>
      <p:grpSpPr>
        <a:xfrm>
          <a:off x="0" y="0"/>
          <a:ext cx="0" cy="0"/>
          <a:chOff x="0" y="0"/>
          <a:chExt cx="0" cy="0"/>
        </a:xfrm>
      </p:grpSpPr>
      <p:sp>
        <p:nvSpPr>
          <p:cNvPr id="215" name="Google Shape;215;g3e038e53ae8_0_35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6" name="Google Shape;216;g3e038e53ae8_0_35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7" name="Google Shape;217;g3e038e53ae8_0_35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8" name="Google Shape;218;g3e038e53ae8_0_3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9" name="Google Shape;219;g3e038e53ae8_0_3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0" name="Google Shape;220;g3e038e53ae8_0_3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1" name="Shape 221"/>
        <p:cNvGrpSpPr/>
        <p:nvPr/>
      </p:nvGrpSpPr>
      <p:grpSpPr>
        <a:xfrm>
          <a:off x="0" y="0"/>
          <a:ext cx="0" cy="0"/>
          <a:chOff x="0" y="0"/>
          <a:chExt cx="0" cy="0"/>
        </a:xfrm>
      </p:grpSpPr>
      <p:sp>
        <p:nvSpPr>
          <p:cNvPr id="222" name="Google Shape;222;g3e038e53ae8_0_362"/>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3" name="Google Shape;223;g3e038e53ae8_0_362"/>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4" name="Google Shape;224;g3e038e53ae8_0_362"/>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g3e038e53ae8_0_36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6" name="Google Shape;226;g3e038e53ae8_0_362"/>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7" name="Google Shape;227;g3e038e53ae8_0_3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8" name="Google Shape;228;g3e038e53ae8_0_3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9" name="Google Shape;229;g3e038e53ae8_0_3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 name="Shape 230"/>
        <p:cNvGrpSpPr/>
        <p:nvPr/>
      </p:nvGrpSpPr>
      <p:grpSpPr>
        <a:xfrm>
          <a:off x="0" y="0"/>
          <a:ext cx="0" cy="0"/>
          <a:chOff x="0" y="0"/>
          <a:chExt cx="0" cy="0"/>
        </a:xfrm>
      </p:grpSpPr>
      <p:sp>
        <p:nvSpPr>
          <p:cNvPr id="231" name="Google Shape;231;g3e038e53ae8_0_37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2" name="Google Shape;232;g3e038e53ae8_0_3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3" name="Google Shape;233;g3e038e53ae8_0_3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4" name="Google Shape;234;g3e038e53ae8_0_3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5" name="Shape 235"/>
        <p:cNvGrpSpPr/>
        <p:nvPr/>
      </p:nvGrpSpPr>
      <p:grpSpPr>
        <a:xfrm>
          <a:off x="0" y="0"/>
          <a:ext cx="0" cy="0"/>
          <a:chOff x="0" y="0"/>
          <a:chExt cx="0" cy="0"/>
        </a:xfrm>
      </p:grpSpPr>
      <p:sp>
        <p:nvSpPr>
          <p:cNvPr id="236" name="Google Shape;236;g3e038e53ae8_0_37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7" name="Google Shape;237;g3e038e53ae8_0_37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8" name="Google Shape;238;g3e038e53ae8_0_37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9" name="Shape 239"/>
        <p:cNvGrpSpPr/>
        <p:nvPr/>
      </p:nvGrpSpPr>
      <p:grpSpPr>
        <a:xfrm>
          <a:off x="0" y="0"/>
          <a:ext cx="0" cy="0"/>
          <a:chOff x="0" y="0"/>
          <a:chExt cx="0" cy="0"/>
        </a:xfrm>
      </p:grpSpPr>
      <p:sp>
        <p:nvSpPr>
          <p:cNvPr id="240" name="Google Shape;240;g3e038e53ae8_0_38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1" name="Google Shape;241;g3e038e53ae8_0_38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42" name="Google Shape;242;g3e038e53ae8_0_380"/>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43" name="Google Shape;243;g3e038e53ae8_0_38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4" name="Google Shape;244;g3e038e53ae8_0_38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5" name="Google Shape;245;g3e038e53ae8_0_38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6" name="Shape 246"/>
        <p:cNvGrpSpPr/>
        <p:nvPr/>
      </p:nvGrpSpPr>
      <p:grpSpPr>
        <a:xfrm>
          <a:off x="0" y="0"/>
          <a:ext cx="0" cy="0"/>
          <a:chOff x="0" y="0"/>
          <a:chExt cx="0" cy="0"/>
        </a:xfrm>
      </p:grpSpPr>
      <p:sp>
        <p:nvSpPr>
          <p:cNvPr id="247" name="Google Shape;247;g3e038e53ae8_0_38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8" name="Google Shape;248;g3e038e53ae8_0_387"/>
          <p:cNvSpPr/>
          <p:nvPr>
            <p:ph idx="2" type="pic"/>
          </p:nvPr>
        </p:nvSpPr>
        <p:spPr>
          <a:xfrm>
            <a:off x="3887391" y="740569"/>
            <a:ext cx="4629300" cy="3655200"/>
          </a:xfrm>
          <a:prstGeom prst="rect">
            <a:avLst/>
          </a:prstGeom>
          <a:noFill/>
          <a:ln>
            <a:noFill/>
          </a:ln>
        </p:spPr>
      </p:sp>
      <p:sp>
        <p:nvSpPr>
          <p:cNvPr id="249" name="Google Shape;249;g3e038e53ae8_0_38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50" name="Google Shape;250;g3e038e53ae8_0_38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1" name="Google Shape;251;g3e038e53ae8_0_38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2" name="Google Shape;252;g3e038e53ae8_0_38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3" name="Shape 253"/>
        <p:cNvGrpSpPr/>
        <p:nvPr/>
      </p:nvGrpSpPr>
      <p:grpSpPr>
        <a:xfrm>
          <a:off x="0" y="0"/>
          <a:ext cx="0" cy="0"/>
          <a:chOff x="0" y="0"/>
          <a:chExt cx="0" cy="0"/>
        </a:xfrm>
      </p:grpSpPr>
      <p:sp>
        <p:nvSpPr>
          <p:cNvPr id="254" name="Google Shape;254;g3e038e53ae8_0_3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5" name="Google Shape;255;g3e038e53ae8_0_39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6" name="Google Shape;256;g3e038e53ae8_0_39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7" name="Google Shape;257;g3e038e53ae8_0_39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8" name="Google Shape;258;g3e038e53ae8_0_39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9" name="Shape 259"/>
        <p:cNvGrpSpPr/>
        <p:nvPr/>
      </p:nvGrpSpPr>
      <p:grpSpPr>
        <a:xfrm>
          <a:off x="0" y="0"/>
          <a:ext cx="0" cy="0"/>
          <a:chOff x="0" y="0"/>
          <a:chExt cx="0" cy="0"/>
        </a:xfrm>
      </p:grpSpPr>
      <p:sp>
        <p:nvSpPr>
          <p:cNvPr id="260" name="Google Shape;260;g3e038e53ae8_0_400"/>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1" name="Google Shape;261;g3e038e53ae8_0_400"/>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2" name="Google Shape;262;g3e038e53ae8_0_40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3" name="Google Shape;263;g3e038e53ae8_0_40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4" name="Google Shape;264;g3e038e53ae8_0_40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5" name="Shape 265"/>
        <p:cNvGrpSpPr/>
        <p:nvPr/>
      </p:nvGrpSpPr>
      <p:grpSpPr>
        <a:xfrm>
          <a:off x="0" y="0"/>
          <a:ext cx="0" cy="0"/>
          <a:chOff x="0" y="0"/>
          <a:chExt cx="0" cy="0"/>
        </a:xfrm>
      </p:grpSpPr>
      <p:sp>
        <p:nvSpPr>
          <p:cNvPr id="266" name="Google Shape;266;g3e038e53ae8_0_406"/>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7" name="Google Shape;267;g3e038e53ae8_0_406"/>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61950" lvl="0" marL="457200">
              <a:spcBef>
                <a:spcPts val="800"/>
              </a:spcBef>
              <a:spcAft>
                <a:spcPts val="0"/>
              </a:spcAft>
              <a:buSzPts val="21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68" name="Google Shape;268;g3e038e53ae8_0_406"/>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slideLayout" Target="../slideLayouts/slideLayout38.xml"/><Relationship Id="rId27" Type="http://schemas.openxmlformats.org/officeDocument/2006/relationships/slideLayout" Target="../slideLayouts/slideLayout39.xml"/><Relationship Id="rId28" Type="http://schemas.openxmlformats.org/officeDocument/2006/relationships/slideLayout" Target="../slideLayouts/slideLayout40.xml"/><Relationship Id="rId29" Type="http://schemas.openxmlformats.org/officeDocument/2006/relationships/slideLayout" Target="../slideLayouts/slideLayout41.xml"/><Relationship Id="rId30" Type="http://schemas.openxmlformats.org/officeDocument/2006/relationships/slideLayout" Target="../slideLayouts/slideLayout42.xml"/><Relationship Id="rId31"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slideLayout" Target="../slideLayouts/slideLayout56.xml"/><Relationship Id="rId15" Type="http://schemas.openxmlformats.org/officeDocument/2006/relationships/slideLayout" Target="../slideLayouts/slideLayout57.xml"/><Relationship Id="rId16"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0E0"/>
        </a:solidFill>
      </p:bgPr>
    </p:bg>
    <p:spTree>
      <p:nvGrpSpPr>
        <p:cNvPr id="84" name="Shape 84"/>
        <p:cNvGrpSpPr/>
        <p:nvPr/>
      </p:nvGrpSpPr>
      <p:grpSpPr>
        <a:xfrm>
          <a:off x="0" y="0"/>
          <a:ext cx="0" cy="0"/>
          <a:chOff x="0" y="0"/>
          <a:chExt cx="0" cy="0"/>
        </a:xfrm>
      </p:grpSpPr>
      <p:sp>
        <p:nvSpPr>
          <p:cNvPr id="85" name="Google Shape;85;g3e038e53ae8_0_1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6" name="Google Shape;86;g3e038e53ae8_0_1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7" name="Google Shape;87;g3e038e53ae8_0_1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88" name="Google Shape;88;g3e038e53ae8_0_1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89" name="Google Shape;89;g3e038e53ae8_0_1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g3e038e53ae8_0_3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85" name="Google Shape;185;g3e038e53ae8_0_3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86" name="Google Shape;186;g3e038e53ae8_0_3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87" name="Google Shape;187;g3e038e53ae8_0_3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88" name="Google Shape;188;g3e038e53ae8_0_3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14.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7.png"/><Relationship Id="rId11"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chart" Target="../charts/chart1.xml"/><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19.pn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0.png"/><Relationship Id="rId9"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3.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24.png"/><Relationship Id="rId6" Type="http://schemas.openxmlformats.org/officeDocument/2006/relationships/image" Target="../media/image10.png"/><Relationship Id="rId7"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g3e038e53ae8_0_441"/>
          <p:cNvSpPr txBox="1"/>
          <p:nvPr/>
        </p:nvSpPr>
        <p:spPr>
          <a:xfrm>
            <a:off x="4642088" y="1963463"/>
            <a:ext cx="6020100" cy="18192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4200"/>
              <a:buFont typeface="Calibri"/>
              <a:buNone/>
            </a:pPr>
            <a:r>
              <a:t/>
            </a:r>
            <a:endParaRPr b="1" i="0" sz="48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rgbClr val="000000"/>
              </a:solidFill>
              <a:latin typeface="Roboto Slab"/>
              <a:ea typeface="Roboto Slab"/>
              <a:cs typeface="Roboto Slab"/>
              <a:sym typeface="Roboto Slab"/>
            </a:endParaRPr>
          </a:p>
        </p:txBody>
      </p:sp>
      <p:sp>
        <p:nvSpPr>
          <p:cNvPr id="321" name="Google Shape;321;g3e038e53ae8_0_441"/>
          <p:cNvSpPr txBox="1"/>
          <p:nvPr/>
        </p:nvSpPr>
        <p:spPr>
          <a:xfrm>
            <a:off x="1376706" y="822960"/>
            <a:ext cx="6390600" cy="1371600"/>
          </a:xfrm>
          <a:prstGeom prst="rect">
            <a:avLst/>
          </a:prstGeom>
          <a:noFill/>
          <a:ln>
            <a:noFill/>
          </a:ln>
        </p:spPr>
        <p:txBody>
          <a:bodyPr anchorCtr="0" anchor="b" bIns="68575" lIns="68575" spcFirstLastPara="1" rIns="68575" wrap="square" tIns="68575">
            <a:normAutofit/>
          </a:bodyPr>
          <a:lstStyle/>
          <a:p>
            <a:pPr indent="0" lvl="0" marL="0" marR="0" rtl="0" algn="ctr">
              <a:lnSpc>
                <a:spcPct val="90000"/>
              </a:lnSpc>
              <a:spcBef>
                <a:spcPts val="0"/>
              </a:spcBef>
              <a:spcAft>
                <a:spcPts val="0"/>
              </a:spcAft>
              <a:buClr>
                <a:srgbClr val="000000"/>
              </a:buClr>
              <a:buSzPts val="4800"/>
              <a:buFont typeface="Arial"/>
              <a:buNone/>
            </a:pPr>
            <a:r>
              <a:rPr b="1" lang="en" sz="4800">
                <a:solidFill>
                  <a:schemeClr val="lt1"/>
                </a:solidFill>
                <a:latin typeface="Roboto"/>
                <a:ea typeface="Roboto"/>
                <a:cs typeface="Roboto"/>
                <a:sym typeface="Roboto"/>
              </a:rPr>
              <a:t>basketbaLLM</a:t>
            </a:r>
            <a:endParaRPr b="1" i="0" sz="3900" u="none" cap="none" strike="noStrike">
              <a:solidFill>
                <a:schemeClr val="lt1"/>
              </a:solidFill>
              <a:latin typeface="Roboto"/>
              <a:ea typeface="Roboto"/>
              <a:cs typeface="Roboto"/>
              <a:sym typeface="Roboto"/>
            </a:endParaRPr>
          </a:p>
        </p:txBody>
      </p:sp>
      <p:sp>
        <p:nvSpPr>
          <p:cNvPr id="322" name="Google Shape;322;g3e038e53ae8_0_441"/>
          <p:cNvSpPr txBox="1"/>
          <p:nvPr/>
        </p:nvSpPr>
        <p:spPr>
          <a:xfrm>
            <a:off x="1256400" y="2044697"/>
            <a:ext cx="6390600" cy="594600"/>
          </a:xfrm>
          <a:prstGeom prst="rect">
            <a:avLst/>
          </a:prstGeom>
          <a:noFill/>
          <a:ln>
            <a:noFill/>
          </a:ln>
        </p:spPr>
        <p:txBody>
          <a:bodyPr anchorCtr="0" anchor="t" bIns="68575" lIns="68575" spcFirstLastPara="1" rIns="68575" wrap="square" tIns="68575">
            <a:norm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rgbClr val="595959"/>
                </a:solidFill>
                <a:latin typeface="Arial"/>
                <a:ea typeface="Arial"/>
                <a:cs typeface="Arial"/>
                <a:sym typeface="Arial"/>
              </a:rPr>
              <a:t> </a:t>
            </a:r>
            <a:endParaRPr b="0" i="0" sz="2100" u="none" cap="none" strike="noStrike">
              <a:solidFill>
                <a:srgbClr val="595959"/>
              </a:solidFill>
              <a:latin typeface="Arial"/>
              <a:ea typeface="Arial"/>
              <a:cs typeface="Arial"/>
              <a:sym typeface="Arial"/>
            </a:endParaRPr>
          </a:p>
        </p:txBody>
      </p:sp>
      <p:sp>
        <p:nvSpPr>
          <p:cNvPr id="323" name="Google Shape;323;g3e038e53ae8_0_441"/>
          <p:cNvSpPr txBox="1"/>
          <p:nvPr/>
        </p:nvSpPr>
        <p:spPr>
          <a:xfrm>
            <a:off x="1376706" y="2331720"/>
            <a:ext cx="6390600" cy="1188720"/>
          </a:xfrm>
          <a:prstGeom prst="rect">
            <a:avLst/>
          </a:prstGeom>
          <a:noFill/>
          <a:ln>
            <a:noFill/>
          </a:ln>
        </p:spPr>
        <p:txBody>
          <a:bodyPr anchorCtr="0" anchor="b" bIns="68575" lIns="68575" spcFirstLastPara="1" rIns="68575" wrap="square" tIns="68575">
            <a:normAutofit/>
          </a:bodyPr>
          <a:lstStyle/>
          <a:p>
            <a:pPr indent="0" lvl="0" marL="0" marR="0" rtl="0" algn="ctr">
              <a:lnSpc>
                <a:spcPct val="90000"/>
              </a:lnSpc>
              <a:spcBef>
                <a:spcPts val="0"/>
              </a:spcBef>
              <a:spcAft>
                <a:spcPts val="0"/>
              </a:spcAft>
              <a:buClr>
                <a:srgbClr val="000000"/>
              </a:buClr>
              <a:buSzPts val="4800"/>
              <a:buFont typeface="Arial"/>
              <a:buNone/>
            </a:pPr>
            <a:r>
              <a:rPr b="0" i="1" lang="en" sz="2400">
                <a:solidFill>
                  <a:schemeClr val="lt1"/>
                </a:solidFill>
                <a:latin typeface="Roboto"/>
                <a:ea typeface="Roboto"/>
                <a:cs typeface="Roboto"/>
                <a:sym typeface="Roboto"/>
              </a:rPr>
              <a:t>An NBA history analyst agent</a:t>
            </a:r>
            <a:endParaRPr b="1" i="1" sz="3300" u="none" cap="none" strike="noStrike">
              <a:solidFill>
                <a:schemeClr val="lt1"/>
              </a:solidFill>
              <a:latin typeface="Roboto"/>
              <a:ea typeface="Roboto"/>
              <a:cs typeface="Roboto"/>
              <a:sym typeface="Roboto"/>
            </a:endParaRPr>
          </a:p>
          <a:p>
            <a:pPr algn="ctr">
              <a:spcBef>
                <a:spcPts val="1000"/>
              </a:spcBef>
            </a:pPr>
            <a:r>
              <a:rPr sz="1800" i="0" b="0">
                <a:solidFill>
                  <a:srgbClr val="FFFFFF"/>
                </a:solidFill>
                <a:latin typeface="Calibri"/>
              </a:rPr>
              <a:t>Zach Dvorak  |  AI Cohort project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Why build this?</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FaExclamationTriangle circle"/>
          <p:cNvSpPr/>
          <p:nvPr/>
        </p:nvSpPr>
        <p:spPr>
          <a:xfrm>
            <a:off x="594360" y="1280160"/>
            <a:ext cx="603504" cy="603504"/>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3" name="FaExclamationTriangle" descr="The problem"/>
          <p:cNvPicPr>
            <a:picLocks noChangeAspect="1"/>
          </p:cNvPicPr>
          <p:nvPr/>
        </p:nvPicPr>
        <p:blipFill>
          <a:blip r:embed="rId4"/>
          <a:stretch>
            <a:fillRect/>
          </a:stretch>
        </p:blipFill>
        <p:spPr>
          <a:xfrm>
            <a:off x="757306" y="1443106"/>
            <a:ext cx="277611" cy="277611"/>
          </a:xfrm>
          <a:prstGeom prst="rect">
            <a:avLst/>
          </a:prstGeom>
        </p:spPr>
      </p:pic>
      <p:sp>
        <p:nvSpPr>
          <p:cNvPr id="334" name="The problem heading"/>
          <p:cNvSpPr txBox="1"/>
          <p:nvPr/>
        </p:nvSpPr>
        <p:spPr>
          <a:xfrm>
            <a:off x="1426464" y="123444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The problem</a:t>
            </a:r>
          </a:p>
        </p:txBody>
      </p:sp>
      <p:sp>
        <p:nvSpPr>
          <p:cNvPr id="335" name="The problem text"/>
          <p:cNvSpPr txBox="1"/>
          <p:nvPr/>
        </p:nvSpPr>
        <p:spPr>
          <a:xfrm>
            <a:off x="1426464" y="1563624"/>
            <a:ext cx="6858000" cy="6400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LLMs state sports statistics with confidence, and often get them wrong. A model's memory is not a database.</a:t>
            </a:r>
          </a:p>
        </p:txBody>
      </p:sp>
      <p:sp>
        <p:nvSpPr>
          <p:cNvPr id="336" name="FaBuilding circle"/>
          <p:cNvSpPr/>
          <p:nvPr/>
        </p:nvSpPr>
        <p:spPr>
          <a:xfrm>
            <a:off x="594360" y="2331720"/>
            <a:ext cx="603504" cy="603504"/>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7" name="FaBuilding" descr="Why it matters"/>
          <p:cNvPicPr>
            <a:picLocks noChangeAspect="1"/>
          </p:cNvPicPr>
          <p:nvPr/>
        </p:nvPicPr>
        <p:blipFill>
          <a:blip r:embed="rId5"/>
          <a:stretch>
            <a:fillRect/>
          </a:stretch>
        </p:blipFill>
        <p:spPr>
          <a:xfrm>
            <a:off x="757306" y="2494666"/>
            <a:ext cx="277611" cy="277611"/>
          </a:xfrm>
          <a:prstGeom prst="rect">
            <a:avLst/>
          </a:prstGeom>
        </p:spPr>
      </p:pic>
      <p:sp>
        <p:nvSpPr>
          <p:cNvPr id="338" name="Why it matters heading"/>
          <p:cNvSpPr txBox="1"/>
          <p:nvPr/>
        </p:nvSpPr>
        <p:spPr>
          <a:xfrm>
            <a:off x="1426464" y="228600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Why it matters</a:t>
            </a:r>
          </a:p>
        </p:txBody>
      </p:sp>
      <p:sp>
        <p:nvSpPr>
          <p:cNvPr id="339" name="Why it matters text"/>
          <p:cNvSpPr txBox="1"/>
          <p:nvPr/>
        </p:nvSpPr>
        <p:spPr>
          <a:xfrm>
            <a:off x="1426464" y="2615184"/>
            <a:ext cx="6858000" cy="6400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Businesses want to ask questions of their own data in plain English. One wrong number costs trust.</a:t>
            </a:r>
          </a:p>
        </p:txBody>
      </p:sp>
      <p:sp>
        <p:nvSpPr>
          <p:cNvPr id="340" name="FaBullseye circle"/>
          <p:cNvSpPr/>
          <p:nvPr/>
        </p:nvSpPr>
        <p:spPr>
          <a:xfrm>
            <a:off x="594360" y="3383279"/>
            <a:ext cx="603504" cy="603504"/>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1" name="FaBullseye" descr="Why you should care"/>
          <p:cNvPicPr>
            <a:picLocks noChangeAspect="1"/>
          </p:cNvPicPr>
          <p:nvPr/>
        </p:nvPicPr>
        <p:blipFill>
          <a:blip r:embed="rId6"/>
          <a:stretch>
            <a:fillRect/>
          </a:stretch>
        </p:blipFill>
        <p:spPr>
          <a:xfrm>
            <a:off x="757306" y="3546226"/>
            <a:ext cx="277611" cy="277611"/>
          </a:xfrm>
          <a:prstGeom prst="rect">
            <a:avLst/>
          </a:prstGeom>
        </p:spPr>
      </p:pic>
      <p:sp>
        <p:nvSpPr>
          <p:cNvPr id="342" name="Why you should care heading"/>
          <p:cNvSpPr txBox="1"/>
          <p:nvPr/>
        </p:nvSpPr>
        <p:spPr>
          <a:xfrm>
            <a:off x="1426464" y="333756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Why you should care</a:t>
            </a:r>
          </a:p>
        </p:txBody>
      </p:sp>
      <p:sp>
        <p:nvSpPr>
          <p:cNvPr id="343" name="Why you should care text"/>
          <p:cNvSpPr txBox="1"/>
          <p:nvPr/>
        </p:nvSpPr>
        <p:spPr>
          <a:xfrm>
            <a:off x="1426464" y="3666744"/>
            <a:ext cx="6858000" cy="6400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This is a small, measurable version of that problem. The same method works on company data.</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What we built</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Data card"/>
          <p:cNvSpPr/>
          <p:nvPr/>
        </p:nvSpPr>
        <p:spPr>
          <a:xfrm>
            <a:off x="548640" y="1188720"/>
            <a:ext cx="1874519" cy="3108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FaDatabase circle"/>
          <p:cNvSpPr/>
          <p:nvPr/>
        </p:nvSpPr>
        <p:spPr>
          <a:xfrm>
            <a:off x="1120139" y="1417320"/>
            <a:ext cx="731520" cy="7315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4" name="FaDatabase" descr="Data"/>
          <p:cNvPicPr>
            <a:picLocks noChangeAspect="1"/>
          </p:cNvPicPr>
          <p:nvPr/>
        </p:nvPicPr>
        <p:blipFill>
          <a:blip r:embed="rId2"/>
          <a:stretch>
            <a:fillRect/>
          </a:stretch>
        </p:blipFill>
        <p:spPr>
          <a:xfrm>
            <a:off x="1317650" y="1614830"/>
            <a:ext cx="336499" cy="336499"/>
          </a:xfrm>
          <a:prstGeom prst="rect">
            <a:avLst/>
          </a:prstGeom>
        </p:spPr>
      </p:pic>
      <p:sp>
        <p:nvSpPr>
          <p:cNvPr id="335" name="Data heading"/>
          <p:cNvSpPr txBox="1"/>
          <p:nvPr/>
        </p:nvSpPr>
        <p:spPr>
          <a:xfrm>
            <a:off x="685800" y="2286000"/>
            <a:ext cx="1600199" cy="365760"/>
          </a:xfrm>
          <a:prstGeom prst="rect">
            <a:avLst/>
          </a:prstGeom>
          <a:noFill/>
        </p:spPr>
        <p:txBody>
          <a:bodyPr wrap="square" anchor="t" lIns="0" rIns="0" tIns="0" bIns="0">
            <a:spAutoFit/>
          </a:bodyPr>
          <a:lstStyle/>
          <a:p>
            <a:pPr algn="ctr">
              <a:spcAft>
                <a:spcPts val="0"/>
              </a:spcAft>
            </a:pPr>
            <a:r>
              <a:rPr sz="2000" b="1" i="0">
                <a:solidFill>
                  <a:srgbClr val="0B2F54"/>
                </a:solidFill>
                <a:latin typeface="Calibri"/>
              </a:rPr>
              <a:t>Data</a:t>
            </a:r>
          </a:p>
        </p:txBody>
      </p:sp>
      <p:sp>
        <p:nvSpPr>
          <p:cNvPr id="336" name="Data text"/>
          <p:cNvSpPr txBox="1"/>
          <p:nvPr/>
        </p:nvSpPr>
        <p:spPr>
          <a:xfrm>
            <a:off x="685800" y="2743200"/>
            <a:ext cx="1600199" cy="146304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12 Kaggle CSVs covering 1947 to 2026, cleaned into DuckDB views</a:t>
            </a:r>
          </a:p>
        </p:txBody>
      </p:sp>
      <p:sp>
        <p:nvSpPr>
          <p:cNvPr id="337" name="Agent card"/>
          <p:cNvSpPr/>
          <p:nvPr/>
        </p:nvSpPr>
        <p:spPr>
          <a:xfrm>
            <a:off x="2606040" y="1188720"/>
            <a:ext cx="1874519" cy="3108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FaRobot circle"/>
          <p:cNvSpPr/>
          <p:nvPr/>
        </p:nvSpPr>
        <p:spPr>
          <a:xfrm>
            <a:off x="3177540" y="1417320"/>
            <a:ext cx="731520" cy="7315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9" name="FaRobot" descr="Agent"/>
          <p:cNvPicPr>
            <a:picLocks noChangeAspect="1"/>
          </p:cNvPicPr>
          <p:nvPr/>
        </p:nvPicPr>
        <p:blipFill>
          <a:blip r:embed="rId4"/>
          <a:stretch>
            <a:fillRect/>
          </a:stretch>
        </p:blipFill>
        <p:spPr>
          <a:xfrm>
            <a:off x="3375050" y="1614830"/>
            <a:ext cx="336499" cy="336499"/>
          </a:xfrm>
          <a:prstGeom prst="rect">
            <a:avLst/>
          </a:prstGeom>
        </p:spPr>
      </p:pic>
      <p:sp>
        <p:nvSpPr>
          <p:cNvPr id="340" name="Agent heading"/>
          <p:cNvSpPr txBox="1"/>
          <p:nvPr/>
        </p:nvSpPr>
        <p:spPr>
          <a:xfrm>
            <a:off x="2743200" y="2286000"/>
            <a:ext cx="1600199" cy="365760"/>
          </a:xfrm>
          <a:prstGeom prst="rect">
            <a:avLst/>
          </a:prstGeom>
          <a:noFill/>
        </p:spPr>
        <p:txBody>
          <a:bodyPr wrap="square" anchor="t" lIns="0" rIns="0" tIns="0" bIns="0">
            <a:spAutoFit/>
          </a:bodyPr>
          <a:lstStyle/>
          <a:p>
            <a:pPr algn="ctr">
              <a:spcAft>
                <a:spcPts val="0"/>
              </a:spcAft>
            </a:pPr>
            <a:r>
              <a:rPr sz="2000" b="1" i="0">
                <a:solidFill>
                  <a:srgbClr val="0B2F54"/>
                </a:solidFill>
                <a:latin typeface="Calibri"/>
              </a:rPr>
              <a:t>Agent</a:t>
            </a:r>
          </a:p>
        </p:txBody>
      </p:sp>
      <p:sp>
        <p:nvSpPr>
          <p:cNvPr id="341" name="Agent text"/>
          <p:cNvSpPr txBox="1"/>
          <p:nvPr/>
        </p:nvSpPr>
        <p:spPr>
          <a:xfrm>
            <a:off x="2743200" y="2743200"/>
            <a:ext cx="1600199" cy="146304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An OpenAI or Gemini model writes SQL, runs it, and explains the result</a:t>
            </a:r>
          </a:p>
        </p:txBody>
      </p:sp>
      <p:sp>
        <p:nvSpPr>
          <p:cNvPr id="342" name="Evaluation card"/>
          <p:cNvSpPr/>
          <p:nvPr/>
        </p:nvSpPr>
        <p:spPr>
          <a:xfrm>
            <a:off x="4663440" y="1188720"/>
            <a:ext cx="1874519" cy="3108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FaClipboardCheck circle"/>
          <p:cNvSpPr/>
          <p:nvPr/>
        </p:nvSpPr>
        <p:spPr>
          <a:xfrm>
            <a:off x="5234940" y="1417320"/>
            <a:ext cx="731520" cy="7315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4" name="FaClipboardCheck" descr="Evaluation"/>
          <p:cNvPicPr>
            <a:picLocks noChangeAspect="1"/>
          </p:cNvPicPr>
          <p:nvPr/>
        </p:nvPicPr>
        <p:blipFill>
          <a:blip r:embed="rId5"/>
          <a:stretch>
            <a:fillRect/>
          </a:stretch>
        </p:blipFill>
        <p:spPr>
          <a:xfrm>
            <a:off x="5432450" y="1614830"/>
            <a:ext cx="336499" cy="336499"/>
          </a:xfrm>
          <a:prstGeom prst="rect">
            <a:avLst/>
          </a:prstGeom>
        </p:spPr>
      </p:pic>
      <p:sp>
        <p:nvSpPr>
          <p:cNvPr id="345" name="Evaluation heading"/>
          <p:cNvSpPr txBox="1"/>
          <p:nvPr/>
        </p:nvSpPr>
        <p:spPr>
          <a:xfrm>
            <a:off x="4800600" y="2286000"/>
            <a:ext cx="1600199" cy="365760"/>
          </a:xfrm>
          <a:prstGeom prst="rect">
            <a:avLst/>
          </a:prstGeom>
          <a:noFill/>
        </p:spPr>
        <p:txBody>
          <a:bodyPr wrap="square" anchor="t" lIns="0" rIns="0" tIns="0" bIns="0">
            <a:spAutoFit/>
          </a:bodyPr>
          <a:lstStyle/>
          <a:p>
            <a:pPr algn="ctr">
              <a:spcAft>
                <a:spcPts val="0"/>
              </a:spcAft>
            </a:pPr>
            <a:r>
              <a:rPr sz="2000" b="1" i="0">
                <a:solidFill>
                  <a:srgbClr val="0B2F54"/>
                </a:solidFill>
                <a:latin typeface="Calibri"/>
              </a:rPr>
              <a:t>Evaluation</a:t>
            </a:r>
          </a:p>
        </p:txBody>
      </p:sp>
      <p:sp>
        <p:nvSpPr>
          <p:cNvPr id="346" name="Evaluation text"/>
          <p:cNvSpPr txBox="1"/>
          <p:nvPr/>
        </p:nvSpPr>
        <p:spPr>
          <a:xfrm>
            <a:off x="4800600" y="2743200"/>
            <a:ext cx="1600199" cy="146304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42 questions with gold answers, split into dev and test sets</a:t>
            </a:r>
          </a:p>
        </p:txBody>
      </p:sp>
      <p:sp>
        <p:nvSpPr>
          <p:cNvPr id="347" name="App card"/>
          <p:cNvSpPr/>
          <p:nvPr/>
        </p:nvSpPr>
        <p:spPr>
          <a:xfrm>
            <a:off x="6720840" y="1188720"/>
            <a:ext cx="1874519" cy="3108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FaPalette circle"/>
          <p:cNvSpPr/>
          <p:nvPr/>
        </p:nvSpPr>
        <p:spPr>
          <a:xfrm>
            <a:off x="7292340" y="1417320"/>
            <a:ext cx="731520" cy="7315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9" name="FaPalette" descr="App"/>
          <p:cNvPicPr>
            <a:picLocks noChangeAspect="1"/>
          </p:cNvPicPr>
          <p:nvPr/>
        </p:nvPicPr>
        <p:blipFill>
          <a:blip r:embed="rId6"/>
          <a:stretch>
            <a:fillRect/>
          </a:stretch>
        </p:blipFill>
        <p:spPr>
          <a:xfrm>
            <a:off x="7489850" y="1614830"/>
            <a:ext cx="336499" cy="336499"/>
          </a:xfrm>
          <a:prstGeom prst="rect">
            <a:avLst/>
          </a:prstGeom>
        </p:spPr>
      </p:pic>
      <p:sp>
        <p:nvSpPr>
          <p:cNvPr id="350" name="App heading"/>
          <p:cNvSpPr txBox="1"/>
          <p:nvPr/>
        </p:nvSpPr>
        <p:spPr>
          <a:xfrm>
            <a:off x="6858000" y="2286000"/>
            <a:ext cx="1600199" cy="365760"/>
          </a:xfrm>
          <a:prstGeom prst="rect">
            <a:avLst/>
          </a:prstGeom>
          <a:noFill/>
        </p:spPr>
        <p:txBody>
          <a:bodyPr wrap="square" anchor="t" lIns="0" rIns="0" tIns="0" bIns="0">
            <a:spAutoFit/>
          </a:bodyPr>
          <a:lstStyle/>
          <a:p>
            <a:pPr algn="ctr">
              <a:spcAft>
                <a:spcPts val="0"/>
              </a:spcAft>
            </a:pPr>
            <a:r>
              <a:rPr sz="2000" b="1" i="0">
                <a:solidFill>
                  <a:srgbClr val="0B2F54"/>
                </a:solidFill>
                <a:latin typeface="Calibri"/>
              </a:rPr>
              <a:t>App</a:t>
            </a:r>
          </a:p>
        </p:txBody>
      </p:sp>
      <p:sp>
        <p:nvSpPr>
          <p:cNvPr id="351" name="App text"/>
          <p:cNvSpPr txBox="1"/>
          <p:nvPr/>
        </p:nvSpPr>
        <p:spPr>
          <a:xfrm>
            <a:off x="6858000" y="2743200"/>
            <a:ext cx="1600199" cy="146304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A chat interface, designed and written by the models themselves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How the system works</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Question box"/>
          <p:cNvSpPr/>
          <p:nvPr/>
        </p:nvSpPr>
        <p:spPr>
          <a:xfrm>
            <a:off x="457200" y="1280160"/>
            <a:ext cx="1417320" cy="20116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FaComments circle"/>
          <p:cNvSpPr/>
          <p:nvPr/>
        </p:nvSpPr>
        <p:spPr>
          <a:xfrm>
            <a:off x="868680" y="1444752"/>
            <a:ext cx="594360" cy="5943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4" name="FaComments" descr="Question"/>
          <p:cNvPicPr>
            <a:picLocks noChangeAspect="1"/>
          </p:cNvPicPr>
          <p:nvPr/>
        </p:nvPicPr>
        <p:blipFill>
          <a:blip r:embed="rId2"/>
          <a:stretch>
            <a:fillRect/>
          </a:stretch>
        </p:blipFill>
        <p:spPr>
          <a:xfrm>
            <a:off x="1029157" y="1605229"/>
            <a:ext cx="273405" cy="273405"/>
          </a:xfrm>
          <a:prstGeom prst="rect">
            <a:avLst/>
          </a:prstGeom>
        </p:spPr>
      </p:pic>
      <p:sp>
        <p:nvSpPr>
          <p:cNvPr id="335" name="Question label"/>
          <p:cNvSpPr txBox="1"/>
          <p:nvPr/>
        </p:nvSpPr>
        <p:spPr>
          <a:xfrm>
            <a:off x="530352" y="2148840"/>
            <a:ext cx="1271016" cy="320040"/>
          </a:xfrm>
          <a:prstGeom prst="rect">
            <a:avLst/>
          </a:prstGeom>
          <a:noFill/>
        </p:spPr>
        <p:txBody>
          <a:bodyPr wrap="square" anchor="t" lIns="0" rIns="0" tIns="0" bIns="0">
            <a:spAutoFit/>
          </a:bodyPr>
          <a:lstStyle/>
          <a:p>
            <a:pPr algn="ctr">
              <a:spcAft>
                <a:spcPts val="0"/>
              </a:spcAft>
            </a:pPr>
            <a:r>
              <a:rPr sz="1800" b="1" i="0">
                <a:solidFill>
                  <a:srgbClr val="0B2F54"/>
                </a:solidFill>
                <a:latin typeface="Calibri"/>
              </a:rPr>
              <a:t>Question</a:t>
            </a:r>
          </a:p>
        </p:txBody>
      </p:sp>
      <p:sp>
        <p:nvSpPr>
          <p:cNvPr id="336" name="Question sublabel"/>
          <p:cNvSpPr txBox="1"/>
          <p:nvPr/>
        </p:nvSpPr>
        <p:spPr>
          <a:xfrm>
            <a:off x="530352" y="2514600"/>
            <a:ext cx="1271016" cy="68580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plain English</a:t>
            </a:r>
          </a:p>
        </p:txBody>
      </p:sp>
      <p:sp>
        <p:nvSpPr>
          <p:cNvPr id="337" name="arrow 1"/>
          <p:cNvSpPr/>
          <p:nvPr/>
        </p:nvSpPr>
        <p:spPr>
          <a:xfrm>
            <a:off x="1892807" y="2194560"/>
            <a:ext cx="23774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LLM box"/>
          <p:cNvSpPr/>
          <p:nvPr/>
        </p:nvSpPr>
        <p:spPr>
          <a:xfrm>
            <a:off x="2148840" y="1280160"/>
            <a:ext cx="1417320" cy="20116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FaBrain circle"/>
          <p:cNvSpPr/>
          <p:nvPr/>
        </p:nvSpPr>
        <p:spPr>
          <a:xfrm>
            <a:off x="2560320" y="1444752"/>
            <a:ext cx="594360" cy="5943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0" name="FaBrain" descr="LLM"/>
          <p:cNvPicPr>
            <a:picLocks noChangeAspect="1"/>
          </p:cNvPicPr>
          <p:nvPr/>
        </p:nvPicPr>
        <p:blipFill>
          <a:blip r:embed="rId4"/>
          <a:stretch>
            <a:fillRect/>
          </a:stretch>
        </p:blipFill>
        <p:spPr>
          <a:xfrm>
            <a:off x="2720797" y="1605229"/>
            <a:ext cx="273405" cy="273405"/>
          </a:xfrm>
          <a:prstGeom prst="rect">
            <a:avLst/>
          </a:prstGeom>
        </p:spPr>
      </p:pic>
      <p:sp>
        <p:nvSpPr>
          <p:cNvPr id="341" name="LLM label"/>
          <p:cNvSpPr txBox="1"/>
          <p:nvPr/>
        </p:nvSpPr>
        <p:spPr>
          <a:xfrm>
            <a:off x="2221992" y="2148840"/>
            <a:ext cx="1271016" cy="320040"/>
          </a:xfrm>
          <a:prstGeom prst="rect">
            <a:avLst/>
          </a:prstGeom>
          <a:noFill/>
        </p:spPr>
        <p:txBody>
          <a:bodyPr wrap="square" anchor="t" lIns="0" rIns="0" tIns="0" bIns="0">
            <a:spAutoFit/>
          </a:bodyPr>
          <a:lstStyle/>
          <a:p>
            <a:pPr algn="ctr">
              <a:spcAft>
                <a:spcPts val="0"/>
              </a:spcAft>
            </a:pPr>
            <a:r>
              <a:rPr sz="1800" b="1" i="0">
                <a:solidFill>
                  <a:srgbClr val="0B2F54"/>
                </a:solidFill>
                <a:latin typeface="Calibri"/>
              </a:rPr>
              <a:t>LLM</a:t>
            </a:r>
          </a:p>
        </p:txBody>
      </p:sp>
      <p:sp>
        <p:nvSpPr>
          <p:cNvPr id="342" name="LLM sublabel"/>
          <p:cNvSpPr txBox="1"/>
          <p:nvPr/>
        </p:nvSpPr>
        <p:spPr>
          <a:xfrm>
            <a:off x="2221992" y="2514600"/>
            <a:ext cx="1271016" cy="68580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OpenAI or Gemini</a:t>
            </a:r>
          </a:p>
        </p:txBody>
      </p:sp>
      <p:sp>
        <p:nvSpPr>
          <p:cNvPr id="343" name="arrow 2"/>
          <p:cNvSpPr/>
          <p:nvPr/>
        </p:nvSpPr>
        <p:spPr>
          <a:xfrm>
            <a:off x="3584448" y="2194560"/>
            <a:ext cx="23774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wo tools box"/>
          <p:cNvSpPr/>
          <p:nvPr/>
        </p:nvSpPr>
        <p:spPr>
          <a:xfrm>
            <a:off x="3840480" y="1280160"/>
            <a:ext cx="1417320" cy="20116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FaCogs circle"/>
          <p:cNvSpPr/>
          <p:nvPr/>
        </p:nvSpPr>
        <p:spPr>
          <a:xfrm>
            <a:off x="4251960" y="1444752"/>
            <a:ext cx="594360" cy="5943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6" name="FaCogs" descr="Two tools"/>
          <p:cNvPicPr>
            <a:picLocks noChangeAspect="1"/>
          </p:cNvPicPr>
          <p:nvPr/>
        </p:nvPicPr>
        <p:blipFill>
          <a:blip r:embed="rId5"/>
          <a:stretch>
            <a:fillRect/>
          </a:stretch>
        </p:blipFill>
        <p:spPr>
          <a:xfrm>
            <a:off x="4412437" y="1605229"/>
            <a:ext cx="273405" cy="273405"/>
          </a:xfrm>
          <a:prstGeom prst="rect">
            <a:avLst/>
          </a:prstGeom>
        </p:spPr>
      </p:pic>
      <p:sp>
        <p:nvSpPr>
          <p:cNvPr id="347" name="Two tools label"/>
          <p:cNvSpPr txBox="1"/>
          <p:nvPr/>
        </p:nvSpPr>
        <p:spPr>
          <a:xfrm>
            <a:off x="3913632" y="2148840"/>
            <a:ext cx="1271016" cy="320040"/>
          </a:xfrm>
          <a:prstGeom prst="rect">
            <a:avLst/>
          </a:prstGeom>
          <a:noFill/>
        </p:spPr>
        <p:txBody>
          <a:bodyPr wrap="square" anchor="t" lIns="0" rIns="0" tIns="0" bIns="0">
            <a:spAutoFit/>
          </a:bodyPr>
          <a:lstStyle/>
          <a:p>
            <a:pPr algn="ctr">
              <a:spcAft>
                <a:spcPts val="0"/>
              </a:spcAft>
            </a:pPr>
            <a:r>
              <a:rPr sz="1800" b="1" i="0">
                <a:solidFill>
                  <a:srgbClr val="0B2F54"/>
                </a:solidFill>
                <a:latin typeface="Calibri"/>
              </a:rPr>
              <a:t>Two tools</a:t>
            </a:r>
          </a:p>
        </p:txBody>
      </p:sp>
      <p:sp>
        <p:nvSpPr>
          <p:cNvPr id="348" name="Two tools sublabel"/>
          <p:cNvSpPr txBox="1"/>
          <p:nvPr/>
        </p:nvSpPr>
        <p:spPr>
          <a:xfrm>
            <a:off x="3913632" y="2514600"/>
            <a:ext cx="1271016" cy="68580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get_schema and run_sql</a:t>
            </a:r>
          </a:p>
        </p:txBody>
      </p:sp>
      <p:sp>
        <p:nvSpPr>
          <p:cNvPr id="349" name="arrow 3"/>
          <p:cNvSpPr/>
          <p:nvPr/>
        </p:nvSpPr>
        <p:spPr>
          <a:xfrm>
            <a:off x="5276088" y="2194560"/>
            <a:ext cx="23774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DuckDB box"/>
          <p:cNvSpPr/>
          <p:nvPr/>
        </p:nvSpPr>
        <p:spPr>
          <a:xfrm>
            <a:off x="5532120" y="1280160"/>
            <a:ext cx="1417320" cy="20116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FaDatabase circle"/>
          <p:cNvSpPr/>
          <p:nvPr/>
        </p:nvSpPr>
        <p:spPr>
          <a:xfrm>
            <a:off x="5943600" y="1444752"/>
            <a:ext cx="594360" cy="5943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2" name="FaDatabase" descr="DuckDB"/>
          <p:cNvPicPr>
            <a:picLocks noChangeAspect="1"/>
          </p:cNvPicPr>
          <p:nvPr/>
        </p:nvPicPr>
        <p:blipFill>
          <a:blip r:embed="rId6"/>
          <a:stretch>
            <a:fillRect/>
          </a:stretch>
        </p:blipFill>
        <p:spPr>
          <a:xfrm>
            <a:off x="6104077" y="1605229"/>
            <a:ext cx="273405" cy="273405"/>
          </a:xfrm>
          <a:prstGeom prst="rect">
            <a:avLst/>
          </a:prstGeom>
        </p:spPr>
      </p:pic>
      <p:sp>
        <p:nvSpPr>
          <p:cNvPr id="353" name="DuckDB label"/>
          <p:cNvSpPr txBox="1"/>
          <p:nvPr/>
        </p:nvSpPr>
        <p:spPr>
          <a:xfrm>
            <a:off x="5605272" y="2148840"/>
            <a:ext cx="1271016" cy="320040"/>
          </a:xfrm>
          <a:prstGeom prst="rect">
            <a:avLst/>
          </a:prstGeom>
          <a:noFill/>
        </p:spPr>
        <p:txBody>
          <a:bodyPr wrap="square" anchor="t" lIns="0" rIns="0" tIns="0" bIns="0">
            <a:spAutoFit/>
          </a:bodyPr>
          <a:lstStyle/>
          <a:p>
            <a:pPr algn="ctr">
              <a:spcAft>
                <a:spcPts val="0"/>
              </a:spcAft>
            </a:pPr>
            <a:r>
              <a:rPr sz="1800" b="1" i="0">
                <a:solidFill>
                  <a:srgbClr val="0B2F54"/>
                </a:solidFill>
                <a:latin typeface="Calibri"/>
              </a:rPr>
              <a:t>DuckDB</a:t>
            </a:r>
          </a:p>
        </p:txBody>
      </p:sp>
      <p:sp>
        <p:nvSpPr>
          <p:cNvPr id="354" name="DuckDB sublabel"/>
          <p:cNvSpPr txBox="1"/>
          <p:nvPr/>
        </p:nvSpPr>
        <p:spPr>
          <a:xfrm>
            <a:off x="5605272" y="2514600"/>
            <a:ext cx="1271016" cy="68580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12 CSVs as clean views</a:t>
            </a:r>
          </a:p>
        </p:txBody>
      </p:sp>
      <p:sp>
        <p:nvSpPr>
          <p:cNvPr id="355" name="arrow 4"/>
          <p:cNvSpPr/>
          <p:nvPr/>
        </p:nvSpPr>
        <p:spPr>
          <a:xfrm>
            <a:off x="6967728" y="2194560"/>
            <a:ext cx="23774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nswer box"/>
          <p:cNvSpPr/>
          <p:nvPr/>
        </p:nvSpPr>
        <p:spPr>
          <a:xfrm>
            <a:off x="7223760" y="1280160"/>
            <a:ext cx="1417320" cy="20116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FaCheckCircle circle"/>
          <p:cNvSpPr/>
          <p:nvPr/>
        </p:nvSpPr>
        <p:spPr>
          <a:xfrm>
            <a:off x="7635240" y="1444752"/>
            <a:ext cx="594360" cy="5943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8" name="FaCheckCircle" descr="Answer"/>
          <p:cNvPicPr>
            <a:picLocks noChangeAspect="1"/>
          </p:cNvPicPr>
          <p:nvPr/>
        </p:nvPicPr>
        <p:blipFill>
          <a:blip r:embed="rId7"/>
          <a:stretch>
            <a:fillRect/>
          </a:stretch>
        </p:blipFill>
        <p:spPr>
          <a:xfrm>
            <a:off x="7795717" y="1605229"/>
            <a:ext cx="273405" cy="273405"/>
          </a:xfrm>
          <a:prstGeom prst="rect">
            <a:avLst/>
          </a:prstGeom>
        </p:spPr>
      </p:pic>
      <p:sp>
        <p:nvSpPr>
          <p:cNvPr id="359" name="Answer label"/>
          <p:cNvSpPr txBox="1"/>
          <p:nvPr/>
        </p:nvSpPr>
        <p:spPr>
          <a:xfrm>
            <a:off x="7296912" y="2148840"/>
            <a:ext cx="1271016" cy="320040"/>
          </a:xfrm>
          <a:prstGeom prst="rect">
            <a:avLst/>
          </a:prstGeom>
          <a:noFill/>
        </p:spPr>
        <p:txBody>
          <a:bodyPr wrap="square" anchor="t" lIns="0" rIns="0" tIns="0" bIns="0">
            <a:spAutoFit/>
          </a:bodyPr>
          <a:lstStyle/>
          <a:p>
            <a:pPr algn="ctr">
              <a:spcAft>
                <a:spcPts val="0"/>
              </a:spcAft>
            </a:pPr>
            <a:r>
              <a:rPr sz="1800" b="1" i="0">
                <a:solidFill>
                  <a:srgbClr val="0B2F54"/>
                </a:solidFill>
                <a:latin typeface="Calibri"/>
              </a:rPr>
              <a:t>Answer</a:t>
            </a:r>
          </a:p>
        </p:txBody>
      </p:sp>
      <p:sp>
        <p:nvSpPr>
          <p:cNvPr id="360" name="Answer sublabel"/>
          <p:cNvSpPr txBox="1"/>
          <p:nvPr/>
        </p:nvSpPr>
        <p:spPr>
          <a:xfrm>
            <a:off x="7296912" y="2514600"/>
            <a:ext cx="1271016" cy="685800"/>
          </a:xfrm>
          <a:prstGeom prst="rect">
            <a:avLst/>
          </a:prstGeom>
          <a:noFill/>
        </p:spPr>
        <p:txBody>
          <a:bodyPr wrap="square" anchor="t" lIns="0" rIns="0" tIns="0" bIns="0">
            <a:spAutoFit/>
          </a:bodyPr>
          <a:lstStyle/>
          <a:p>
            <a:pPr algn="ctr">
              <a:spcAft>
                <a:spcPts val="0"/>
              </a:spcAft>
            </a:pPr>
            <a:r>
              <a:rPr sz="1400" b="0" i="0">
                <a:solidFill>
                  <a:srgbClr val="1F2937"/>
                </a:solidFill>
                <a:latin typeface="Calibri"/>
              </a:rPr>
              <a:t>plus the SQL it ran</a:t>
            </a:r>
          </a:p>
        </p:txBody>
      </p:sp>
      <p:sp>
        <p:nvSpPr>
          <p:cNvPr id="361" name="principle banner"/>
          <p:cNvSpPr/>
          <p:nvPr/>
        </p:nvSpPr>
        <p:spPr>
          <a:xfrm>
            <a:off x="457200" y="3566160"/>
            <a:ext cx="8183879" cy="777240"/>
          </a:xfrm>
          <a:prstGeom prst="roundRect">
            <a:avLst>
              <a:gd name="adj" fmla="val 6000"/>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principle text"/>
          <p:cNvSpPr txBox="1"/>
          <p:nvPr/>
        </p:nvSpPr>
        <p:spPr>
          <a:xfrm>
            <a:off x="685800" y="3566160"/>
            <a:ext cx="7726679" cy="777240"/>
          </a:xfrm>
          <a:prstGeom prst="rect">
            <a:avLst/>
          </a:prstGeom>
          <a:noFill/>
        </p:spPr>
        <p:txBody>
          <a:bodyPr wrap="square" anchor="ctr" lIns="0" rIns="0" tIns="0" bIns="0">
            <a:spAutoFit/>
          </a:bodyPr>
          <a:lstStyle/>
          <a:p>
            <a:pPr algn="l">
              <a:spcAft>
                <a:spcPts val="0"/>
              </a:spcAft>
            </a:pPr>
            <a:r>
              <a:rPr sz="1600" b="1" i="0">
                <a:solidFill>
                  <a:srgbClr val="FFFFFF"/>
                </a:solidFill>
                <a:latin typeface="Calibri"/>
              </a:rPr>
              <a:t>The model never recalls a statistic. </a:t>
            </a:r>
            <a:r>
              <a:rPr sz="1600" b="0" i="0">
                <a:solidFill>
                  <a:srgbClr val="FFFFFF"/>
                </a:solidFill>
                <a:latin typeface="Calibri"/>
              </a:rPr>
              <a:t>It finds one by querying, so every number can be checked against the data.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What is in the data?</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seasons card"/>
          <p:cNvSpPr/>
          <p:nvPr/>
        </p:nvSpPr>
        <p:spPr>
          <a:xfrm>
            <a:off x="548640" y="1188720"/>
            <a:ext cx="1874519" cy="1965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seasons number"/>
          <p:cNvSpPr txBox="1"/>
          <p:nvPr/>
        </p:nvSpPr>
        <p:spPr>
          <a:xfrm>
            <a:off x="640080" y="1298448"/>
            <a:ext cx="1691640" cy="731520"/>
          </a:xfrm>
          <a:prstGeom prst="rect">
            <a:avLst/>
          </a:prstGeom>
          <a:noFill/>
        </p:spPr>
        <p:txBody>
          <a:bodyPr wrap="square" anchor="ctr" lIns="0" rIns="0" tIns="0" bIns="0">
            <a:spAutoFit/>
          </a:bodyPr>
          <a:lstStyle/>
          <a:p>
            <a:pPr algn="ctr">
              <a:spcAft>
                <a:spcPts val="0"/>
              </a:spcAft>
            </a:pPr>
            <a:r>
              <a:rPr sz="4000" b="1" i="0">
                <a:solidFill>
                  <a:srgbClr val="145DA0"/>
                </a:solidFill>
                <a:latin typeface="Calibri"/>
              </a:rPr>
              <a:t>80</a:t>
            </a:r>
          </a:p>
        </p:txBody>
      </p:sp>
      <p:sp>
        <p:nvSpPr>
          <p:cNvPr id="334" name="seasons label"/>
          <p:cNvSpPr txBox="1"/>
          <p:nvPr/>
        </p:nvSpPr>
        <p:spPr>
          <a:xfrm>
            <a:off x="640080" y="2011680"/>
            <a:ext cx="1691640" cy="320040"/>
          </a:xfrm>
          <a:prstGeom prst="rect">
            <a:avLst/>
          </a:prstGeom>
          <a:noFill/>
        </p:spPr>
        <p:txBody>
          <a:bodyPr wrap="square" anchor="t" lIns="0" rIns="0" tIns="0" bIns="0">
            <a:spAutoFit/>
          </a:bodyPr>
          <a:lstStyle/>
          <a:p>
            <a:pPr algn="ctr">
              <a:spcAft>
                <a:spcPts val="0"/>
              </a:spcAft>
            </a:pPr>
            <a:r>
              <a:rPr sz="1600" b="1" i="0">
                <a:solidFill>
                  <a:srgbClr val="0B2F54"/>
                </a:solidFill>
                <a:latin typeface="Calibri"/>
              </a:rPr>
              <a:t>seasons</a:t>
            </a:r>
          </a:p>
        </p:txBody>
      </p:sp>
      <p:sp>
        <p:nvSpPr>
          <p:cNvPr id="335" name="seasons note"/>
          <p:cNvSpPr txBox="1"/>
          <p:nvPr/>
        </p:nvSpPr>
        <p:spPr>
          <a:xfrm>
            <a:off x="658368" y="2377440"/>
            <a:ext cx="1655064" cy="731520"/>
          </a:xfrm>
          <a:prstGeom prst="rect">
            <a:avLst/>
          </a:prstGeom>
          <a:noFill/>
        </p:spPr>
        <p:txBody>
          <a:bodyPr wrap="square" anchor="t" lIns="0" rIns="0" tIns="0" bIns="0">
            <a:spAutoFit/>
          </a:bodyPr>
          <a:lstStyle/>
          <a:p>
            <a:pPr algn="ctr">
              <a:spcAft>
                <a:spcPts val="0"/>
              </a:spcAft>
            </a:pPr>
            <a:r>
              <a:rPr sz="1300" b="0" i="0">
                <a:solidFill>
                  <a:srgbClr val="4B5563"/>
                </a:solidFill>
                <a:latin typeface="Calibri"/>
              </a:rPr>
              <a:t>1946-47 to 2025-26, including the BAA and ABA</a:t>
            </a:r>
          </a:p>
        </p:txBody>
      </p:sp>
      <p:sp>
        <p:nvSpPr>
          <p:cNvPr id="336" name="players card"/>
          <p:cNvSpPr/>
          <p:nvPr/>
        </p:nvSpPr>
        <p:spPr>
          <a:xfrm>
            <a:off x="2606040" y="1188720"/>
            <a:ext cx="1874519" cy="1965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players number"/>
          <p:cNvSpPr txBox="1"/>
          <p:nvPr/>
        </p:nvSpPr>
        <p:spPr>
          <a:xfrm>
            <a:off x="2697480" y="1298448"/>
            <a:ext cx="1691640" cy="731520"/>
          </a:xfrm>
          <a:prstGeom prst="rect">
            <a:avLst/>
          </a:prstGeom>
          <a:noFill/>
        </p:spPr>
        <p:txBody>
          <a:bodyPr wrap="square" anchor="ctr" lIns="0" rIns="0" tIns="0" bIns="0">
            <a:spAutoFit/>
          </a:bodyPr>
          <a:lstStyle/>
          <a:p>
            <a:pPr algn="ctr">
              <a:spcAft>
                <a:spcPts val="0"/>
              </a:spcAft>
            </a:pPr>
            <a:r>
              <a:rPr sz="4000" b="1" i="0">
                <a:solidFill>
                  <a:srgbClr val="145DA0"/>
                </a:solidFill>
                <a:latin typeface="Calibri"/>
              </a:rPr>
              <a:t>5,416</a:t>
            </a:r>
          </a:p>
        </p:txBody>
      </p:sp>
      <p:sp>
        <p:nvSpPr>
          <p:cNvPr id="338" name="players label"/>
          <p:cNvSpPr txBox="1"/>
          <p:nvPr/>
        </p:nvSpPr>
        <p:spPr>
          <a:xfrm>
            <a:off x="2697480" y="2011680"/>
            <a:ext cx="1691640" cy="320040"/>
          </a:xfrm>
          <a:prstGeom prst="rect">
            <a:avLst/>
          </a:prstGeom>
          <a:noFill/>
        </p:spPr>
        <p:txBody>
          <a:bodyPr wrap="square" anchor="t" lIns="0" rIns="0" tIns="0" bIns="0">
            <a:spAutoFit/>
          </a:bodyPr>
          <a:lstStyle/>
          <a:p>
            <a:pPr algn="ctr">
              <a:spcAft>
                <a:spcPts val="0"/>
              </a:spcAft>
            </a:pPr>
            <a:r>
              <a:rPr sz="1600" b="1" i="0">
                <a:solidFill>
                  <a:srgbClr val="0B2F54"/>
                </a:solidFill>
                <a:latin typeface="Calibri"/>
              </a:rPr>
              <a:t>players</a:t>
            </a:r>
          </a:p>
        </p:txBody>
      </p:sp>
      <p:sp>
        <p:nvSpPr>
          <p:cNvPr id="339" name="players note"/>
          <p:cNvSpPr txBox="1"/>
          <p:nvPr/>
        </p:nvSpPr>
        <p:spPr>
          <a:xfrm>
            <a:off x="2715768" y="2377440"/>
            <a:ext cx="1655064" cy="731520"/>
          </a:xfrm>
          <a:prstGeom prst="rect">
            <a:avLst/>
          </a:prstGeom>
          <a:noFill/>
        </p:spPr>
        <p:txBody>
          <a:bodyPr wrap="square" anchor="t" lIns="0" rIns="0" tIns="0" bIns="0">
            <a:spAutoFit/>
          </a:bodyPr>
          <a:lstStyle/>
          <a:p>
            <a:pPr algn="ctr">
              <a:spcAft>
                <a:spcPts val="0"/>
              </a:spcAft>
            </a:pPr>
            <a:r>
              <a:rPr sz="1300" b="0" i="0">
                <a:solidFill>
                  <a:srgbClr val="4B5563"/>
                </a:solidFill>
                <a:latin typeface="Calibri"/>
              </a:rPr>
              <a:t>every player in the dataset</a:t>
            </a:r>
          </a:p>
        </p:txBody>
      </p:sp>
      <p:sp>
        <p:nvSpPr>
          <p:cNvPr id="340" name="player-seasons card"/>
          <p:cNvSpPr/>
          <p:nvPr/>
        </p:nvSpPr>
        <p:spPr>
          <a:xfrm>
            <a:off x="4663440" y="1188720"/>
            <a:ext cx="1874519" cy="1965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player-seasons number"/>
          <p:cNvSpPr txBox="1"/>
          <p:nvPr/>
        </p:nvSpPr>
        <p:spPr>
          <a:xfrm>
            <a:off x="4754879" y="1298448"/>
            <a:ext cx="1691640" cy="731520"/>
          </a:xfrm>
          <a:prstGeom prst="rect">
            <a:avLst/>
          </a:prstGeom>
          <a:noFill/>
        </p:spPr>
        <p:txBody>
          <a:bodyPr wrap="square" anchor="ctr" lIns="0" rIns="0" tIns="0" bIns="0">
            <a:spAutoFit/>
          </a:bodyPr>
          <a:lstStyle/>
          <a:p>
            <a:pPr algn="ctr">
              <a:spcAft>
                <a:spcPts val="0"/>
              </a:spcAft>
            </a:pPr>
            <a:r>
              <a:rPr sz="4000" b="1" i="0">
                <a:solidFill>
                  <a:srgbClr val="145DA0"/>
                </a:solidFill>
                <a:latin typeface="Calibri"/>
              </a:rPr>
              <a:t>27,011</a:t>
            </a:r>
          </a:p>
        </p:txBody>
      </p:sp>
      <p:sp>
        <p:nvSpPr>
          <p:cNvPr id="342" name="player-seasons label"/>
          <p:cNvSpPr txBox="1"/>
          <p:nvPr/>
        </p:nvSpPr>
        <p:spPr>
          <a:xfrm>
            <a:off x="4754879" y="2011680"/>
            <a:ext cx="1691640" cy="320040"/>
          </a:xfrm>
          <a:prstGeom prst="rect">
            <a:avLst/>
          </a:prstGeom>
          <a:noFill/>
        </p:spPr>
        <p:txBody>
          <a:bodyPr wrap="square" anchor="t" lIns="0" rIns="0" tIns="0" bIns="0">
            <a:spAutoFit/>
          </a:bodyPr>
          <a:lstStyle/>
          <a:p>
            <a:pPr algn="ctr">
              <a:spcAft>
                <a:spcPts val="0"/>
              </a:spcAft>
            </a:pPr>
            <a:r>
              <a:rPr sz="1600" b="1" i="0">
                <a:solidFill>
                  <a:srgbClr val="0B2F54"/>
                </a:solidFill>
                <a:latin typeface="Calibri"/>
              </a:rPr>
              <a:t>player-seasons</a:t>
            </a:r>
          </a:p>
        </p:txBody>
      </p:sp>
      <p:sp>
        <p:nvSpPr>
          <p:cNvPr id="343" name="player-seasons note"/>
          <p:cNvSpPr txBox="1"/>
          <p:nvPr/>
        </p:nvSpPr>
        <p:spPr>
          <a:xfrm>
            <a:off x="4773168" y="2377440"/>
            <a:ext cx="1655064" cy="731520"/>
          </a:xfrm>
          <a:prstGeom prst="rect">
            <a:avLst/>
          </a:prstGeom>
          <a:noFill/>
        </p:spPr>
        <p:txBody>
          <a:bodyPr wrap="square" anchor="t" lIns="0" rIns="0" tIns="0" bIns="0">
            <a:spAutoFit/>
          </a:bodyPr>
          <a:lstStyle/>
          <a:p>
            <a:pPr algn="ctr">
              <a:spcAft>
                <a:spcPts val="0"/>
              </a:spcAft>
            </a:pPr>
            <a:r>
              <a:rPr sz="1300" b="0" i="0">
                <a:solidFill>
                  <a:srgbClr val="4B5563"/>
                </a:solidFill>
                <a:latin typeface="Calibri"/>
              </a:rPr>
              <a:t>after merging traded players</a:t>
            </a:r>
          </a:p>
        </p:txBody>
      </p:sp>
      <p:sp>
        <p:nvSpPr>
          <p:cNvPr id="344" name="team-seasons card"/>
          <p:cNvSpPr/>
          <p:nvPr/>
        </p:nvSpPr>
        <p:spPr>
          <a:xfrm>
            <a:off x="6720840" y="1188720"/>
            <a:ext cx="1874519" cy="196596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am-seasons number"/>
          <p:cNvSpPr txBox="1"/>
          <p:nvPr/>
        </p:nvSpPr>
        <p:spPr>
          <a:xfrm>
            <a:off x="6812279" y="1298448"/>
            <a:ext cx="1691640" cy="731520"/>
          </a:xfrm>
          <a:prstGeom prst="rect">
            <a:avLst/>
          </a:prstGeom>
          <a:noFill/>
        </p:spPr>
        <p:txBody>
          <a:bodyPr wrap="square" anchor="ctr" lIns="0" rIns="0" tIns="0" bIns="0">
            <a:spAutoFit/>
          </a:bodyPr>
          <a:lstStyle/>
          <a:p>
            <a:pPr algn="ctr">
              <a:spcAft>
                <a:spcPts val="0"/>
              </a:spcAft>
            </a:pPr>
            <a:r>
              <a:rPr sz="4000" b="1" i="0">
                <a:solidFill>
                  <a:srgbClr val="145DA0"/>
                </a:solidFill>
                <a:latin typeface="Calibri"/>
              </a:rPr>
              <a:t>1,818</a:t>
            </a:r>
          </a:p>
        </p:txBody>
      </p:sp>
      <p:sp>
        <p:nvSpPr>
          <p:cNvPr id="346" name="team-seasons label"/>
          <p:cNvSpPr txBox="1"/>
          <p:nvPr/>
        </p:nvSpPr>
        <p:spPr>
          <a:xfrm>
            <a:off x="6812279" y="2011680"/>
            <a:ext cx="1691640" cy="320040"/>
          </a:xfrm>
          <a:prstGeom prst="rect">
            <a:avLst/>
          </a:prstGeom>
          <a:noFill/>
        </p:spPr>
        <p:txBody>
          <a:bodyPr wrap="square" anchor="t" lIns="0" rIns="0" tIns="0" bIns="0">
            <a:spAutoFit/>
          </a:bodyPr>
          <a:lstStyle/>
          <a:p>
            <a:pPr algn="ctr">
              <a:spcAft>
                <a:spcPts val="0"/>
              </a:spcAft>
            </a:pPr>
            <a:r>
              <a:rPr sz="1600" b="1" i="0">
                <a:solidFill>
                  <a:srgbClr val="0B2F54"/>
                </a:solidFill>
                <a:latin typeface="Calibri"/>
              </a:rPr>
              <a:t>team-seasons</a:t>
            </a:r>
          </a:p>
        </p:txBody>
      </p:sp>
      <p:sp>
        <p:nvSpPr>
          <p:cNvPr id="347" name="team-seasons note"/>
          <p:cNvSpPr txBox="1"/>
          <p:nvPr/>
        </p:nvSpPr>
        <p:spPr>
          <a:xfrm>
            <a:off x="6830568" y="2377440"/>
            <a:ext cx="1655064" cy="731520"/>
          </a:xfrm>
          <a:prstGeom prst="rect">
            <a:avLst/>
          </a:prstGeom>
          <a:noFill/>
        </p:spPr>
        <p:txBody>
          <a:bodyPr wrap="square" anchor="t" lIns="0" rIns="0" tIns="0" bIns="0">
            <a:spAutoFit/>
          </a:bodyPr>
          <a:lstStyle/>
          <a:p>
            <a:pPr algn="ctr">
              <a:spcAft>
                <a:spcPts val="0"/>
              </a:spcAft>
            </a:pPr>
            <a:r>
              <a:rPr sz="1300" b="0" i="0">
                <a:solidFill>
                  <a:srgbClr val="4B5563"/>
                </a:solidFill>
                <a:latin typeface="Calibri"/>
              </a:rPr>
              <a:t>records, ratings and pace</a:t>
            </a:r>
          </a:p>
        </p:txBody>
      </p:sp>
      <p:sp>
        <p:nvSpPr>
          <p:cNvPr id="348" name="FaBan circle"/>
          <p:cNvSpPr/>
          <p:nvPr/>
        </p:nvSpPr>
        <p:spPr>
          <a:xfrm>
            <a:off x="594360" y="3520440"/>
            <a:ext cx="566928" cy="566928"/>
          </a:xfrm>
          <a:prstGeom prst="ellipse">
            <a:avLst/>
          </a:prstGeom>
          <a:solidFill>
            <a:srgbClr val="D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9" name="FaBan" descr="limits"/>
          <p:cNvPicPr>
            <a:picLocks noChangeAspect="1"/>
          </p:cNvPicPr>
          <p:nvPr/>
        </p:nvPicPr>
        <p:blipFill>
          <a:blip r:embed="rId2"/>
          <a:stretch>
            <a:fillRect/>
          </a:stretch>
        </p:blipFill>
        <p:spPr>
          <a:xfrm>
            <a:off x="747430" y="3673510"/>
            <a:ext cx="260786" cy="260786"/>
          </a:xfrm>
          <a:prstGeom prst="rect">
            <a:avLst/>
          </a:prstGeom>
        </p:spPr>
      </p:pic>
      <p:sp>
        <p:nvSpPr>
          <p:cNvPr id="350" name="limits text"/>
          <p:cNvSpPr txBox="1"/>
          <p:nvPr/>
        </p:nvSpPr>
        <p:spPr>
          <a:xfrm>
            <a:off x="1371600" y="3456432"/>
            <a:ext cx="7132320" cy="868680"/>
          </a:xfrm>
          <a:prstGeom prst="rect">
            <a:avLst/>
          </a:prstGeom>
          <a:noFill/>
        </p:spPr>
        <p:txBody>
          <a:bodyPr wrap="square" anchor="ctr" lIns="0" rIns="0" tIns="0" bIns="0">
            <a:spAutoFit/>
          </a:bodyPr>
          <a:lstStyle/>
          <a:p>
            <a:pPr algn="l">
              <a:spcAft>
                <a:spcPts val="0"/>
              </a:spcAft>
            </a:pPr>
            <a:r>
              <a:rPr sz="1500" b="1" i="0">
                <a:solidFill>
                  <a:srgbClr val="0B2F54"/>
                </a:solidFill>
                <a:latin typeface="Calibri"/>
              </a:rPr>
              <a:t>What it cannot answer: </a:t>
            </a:r>
            <a:r>
              <a:rPr sz="1500" b="0" i="0">
                <a:solidFill>
                  <a:srgbClr val="1F2937"/>
                </a:solidFill>
                <a:latin typeface="Calibri"/>
              </a:rPr>
              <a:t>the data is season-level. It has no individual games, playoff player stats, salaries or injuries. The agent is told to say so instead of guessing.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Data traps that fool an AI</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graphicFrame>
        <p:nvGraphicFramePr>
          <p:cNvPr id="332" name="data traps table"/>
          <p:cNvGraphicFramePr>
            <a:graphicFrameLocks noGrp="1"/>
          </p:cNvGraphicFramePr>
          <p:nvPr/>
        </p:nvGraphicFramePr>
        <p:xfrm>
          <a:off x="548640" y="1143000"/>
          <a:ext cx="8046720" cy="3383280"/>
        </p:xfrm>
        <a:graphic>
          <a:graphicData uri="http://schemas.openxmlformats.org/drawingml/2006/table">
            <a:tbl>
              <a:tblPr firstRow="1">
                <a:tableStyleId>{5C22544A-7EE6-4342-B048-85BDC9FD1C3A}</a:tableStyleId>
              </a:tblPr>
              <a:tblGrid>
                <a:gridCol w="2377440"/>
                <a:gridCol w="3291840"/>
                <a:gridCol w="2377440"/>
              </a:tblGrid>
              <a:tr h="457200">
                <a:tc>
                  <a:txBody>
                    <a:bodyPr wrap="square"/>
                    <a:lstStyle/>
                    <a:p>
                      <a:r>
                        <a:rPr sz="1600" b="1">
                          <a:solidFill>
                            <a:srgbClr val="FFFFFF"/>
                          </a:solidFill>
                          <a:latin typeface="Calibri"/>
                        </a:rPr>
                        <a:t>Trap</a:t>
                      </a:r>
                    </a:p>
                  </a:txBody>
                  <a:tcPr anchor="ctr" marL="91440" marR="91440" marT="36576" marB="36576">
                    <a:solidFill>
                      <a:srgbClr val="145DA0"/>
                    </a:solidFill>
                  </a:tcPr>
                </a:tc>
                <a:tc>
                  <a:txBody>
                    <a:bodyPr wrap="square"/>
                    <a:lstStyle/>
                    <a:p>
                      <a:r>
                        <a:rPr sz="1600" b="1">
                          <a:solidFill>
                            <a:srgbClr val="FFFFFF"/>
                          </a:solidFill>
                          <a:latin typeface="Calibri"/>
                        </a:rPr>
                        <a:t>What goes wrong</a:t>
                      </a:r>
                    </a:p>
                  </a:txBody>
                  <a:tcPr anchor="ctr" marL="91440" marR="91440" marT="36576" marB="36576">
                    <a:solidFill>
                      <a:srgbClr val="145DA0"/>
                    </a:solidFill>
                  </a:tcPr>
                </a:tc>
                <a:tc>
                  <a:txBody>
                    <a:bodyPr wrap="square"/>
                    <a:lstStyle/>
                    <a:p>
                      <a:r>
                        <a:rPr sz="1600" b="1">
                          <a:solidFill>
                            <a:srgbClr val="FFFFFF"/>
                          </a:solidFill>
                          <a:latin typeface="Calibri"/>
                        </a:rPr>
                        <a:t>Our fix</a:t>
                      </a:r>
                    </a:p>
                  </a:txBody>
                  <a:tcPr anchor="ctr" marL="91440" marR="91440" marT="36576" marB="36576">
                    <a:solidFill>
                      <a:srgbClr val="145DA0"/>
                    </a:solidFill>
                  </a:tcPr>
                </a:tc>
              </a:tr>
              <a:tr h="585216">
                <a:tc>
                  <a:txBody>
                    <a:bodyPr wrap="square"/>
                    <a:lstStyle/>
                    <a:p>
                      <a:r>
                        <a:rPr sz="1400" b="1">
                          <a:solidFill>
                            <a:srgbClr val="0B2F54"/>
                          </a:solidFill>
                          <a:latin typeface="Calibri"/>
                        </a:rPr>
                        <a:t>Season = the year it ends</a:t>
                      </a:r>
                    </a:p>
                  </a:txBody>
                  <a:tcPr anchor="ctr" marL="91440" marR="91440" marT="36576" marB="36576">
                    <a:solidFill>
                      <a:srgbClr val="FFFFFF"/>
                    </a:solidFill>
                  </a:tcPr>
                </a:tc>
                <a:tc>
                  <a:txBody>
                    <a:bodyPr wrap="square"/>
                    <a:lstStyle/>
                    <a:p>
                      <a:r>
                        <a:rPr sz="1400" b="0">
                          <a:solidFill>
                            <a:srgbClr val="1F2937"/>
                          </a:solidFill>
                          <a:latin typeface="Calibri"/>
                        </a:rPr>
                        <a:t>2023-24 is stored as 2024, so asking for 2023 returns the wrong year</a:t>
                      </a:r>
                    </a:p>
                  </a:txBody>
                  <a:tcPr anchor="ctr" marL="91440" marR="91440" marT="36576" marB="36576">
                    <a:solidFill>
                      <a:srgbClr val="FFFFFF"/>
                    </a:solidFill>
                  </a:tcPr>
                </a:tc>
                <a:tc>
                  <a:txBody>
                    <a:bodyPr wrap="square"/>
                    <a:lstStyle/>
                    <a:p>
                      <a:r>
                        <a:rPr sz="1400" b="0">
                          <a:solidFill>
                            <a:srgbClr val="1F2937"/>
                          </a:solidFill>
                          <a:latin typeface="Calibri"/>
                        </a:rPr>
                        <a:t>A season_label column, plus a rule in the prompt</a:t>
                      </a:r>
                    </a:p>
                  </a:txBody>
                  <a:tcPr anchor="ctr" marL="91440" marR="91440" marT="36576" marB="36576">
                    <a:solidFill>
                      <a:srgbClr val="FFFFFF"/>
                    </a:solidFill>
                  </a:tcPr>
                </a:tc>
              </a:tr>
              <a:tr h="585216">
                <a:tc>
                  <a:txBody>
                    <a:bodyPr wrap="square"/>
                    <a:lstStyle/>
                    <a:p>
                      <a:r>
                        <a:rPr sz="1400" b="1">
                          <a:solidFill>
                            <a:srgbClr val="0B2F54"/>
                          </a:solidFill>
                          <a:latin typeface="Calibri"/>
                        </a:rPr>
                        <a:t>Traded players appear twice</a:t>
                      </a:r>
                    </a:p>
                  </a:txBody>
                  <a:tcPr anchor="ctr" marL="91440" marR="91440" marT="36576" marB="36576">
                    <a:solidFill>
                      <a:srgbClr val="EAF2FA"/>
                    </a:solidFill>
                  </a:tcPr>
                </a:tc>
                <a:tc>
                  <a:txBody>
                    <a:bodyPr wrap="square"/>
                    <a:lstStyle/>
                    <a:p>
                      <a:r>
                        <a:rPr sz="1400" b="0">
                          <a:solidFill>
                            <a:srgbClr val="1F2937"/>
                          </a:solidFill>
                          <a:latin typeface="Calibri"/>
                        </a:rPr>
                        <a:t>Leaderboards list a player twice and career totals double count</a:t>
                      </a:r>
                    </a:p>
                  </a:txBody>
                  <a:tcPr anchor="ctr" marL="91440" marR="91440" marT="36576" marB="36576">
                    <a:solidFill>
                      <a:srgbClr val="EAF2FA"/>
                    </a:solidFill>
                  </a:tcPr>
                </a:tc>
                <a:tc>
                  <a:txBody>
                    <a:bodyPr wrap="square"/>
                    <a:lstStyle/>
                    <a:p>
                      <a:r>
                        <a:rPr sz="1400" b="0">
                          <a:solidFill>
                            <a:srgbClr val="1F2937"/>
                          </a:solidFill>
                          <a:latin typeface="Calibri"/>
                        </a:rPr>
                        <a:t>player_season keeps one row per player per season</a:t>
                      </a:r>
                    </a:p>
                  </a:txBody>
                  <a:tcPr anchor="ctr" marL="91440" marR="91440" marT="36576" marB="36576">
                    <a:solidFill>
                      <a:srgbClr val="EAF2FA"/>
                    </a:solidFill>
                  </a:tcPr>
                </a:tc>
              </a:tr>
              <a:tr h="585216">
                <a:tc>
                  <a:txBody>
                    <a:bodyPr wrap="square"/>
                    <a:lstStyle/>
                    <a:p>
                      <a:r>
                        <a:rPr sz="1400" b="1">
                          <a:solidFill>
                            <a:srgbClr val="0B2F54"/>
                          </a:solidFill>
                          <a:latin typeface="Calibri"/>
                        </a:rPr>
                        <a:t>Missing values are the text NA</a:t>
                      </a:r>
                    </a:p>
                  </a:txBody>
                  <a:tcPr anchor="ctr" marL="91440" marR="91440" marT="36576" marB="36576">
                    <a:solidFill>
                      <a:srgbClr val="FFFFFF"/>
                    </a:solidFill>
                  </a:tcPr>
                </a:tc>
                <a:tc>
                  <a:txBody>
                    <a:bodyPr wrap="square"/>
                    <a:lstStyle/>
                    <a:p>
                      <a:r>
                        <a:rPr sz="1400" b="0">
                          <a:solidFill>
                            <a:srgbClr val="1F2937"/>
                          </a:solidFill>
                          <a:latin typeface="Calibri"/>
                        </a:rPr>
                        <a:t>Number columns load as text and averages break</a:t>
                      </a:r>
                    </a:p>
                  </a:txBody>
                  <a:tcPr anchor="ctr" marL="91440" marR="91440" marT="36576" marB="36576">
                    <a:solidFill>
                      <a:srgbClr val="FFFFFF"/>
                    </a:solidFill>
                  </a:tcPr>
                </a:tc>
                <a:tc>
                  <a:txBody>
                    <a:bodyPr wrap="square"/>
                    <a:lstStyle/>
                    <a:p>
                      <a:r>
                        <a:rPr sz="1400" b="0">
                          <a:solidFill>
                            <a:srgbClr val="1F2937"/>
                          </a:solidFill>
                          <a:latin typeface="Calibri"/>
                        </a:rPr>
                        <a:t>The loader reads NA as a real null</a:t>
                      </a:r>
                    </a:p>
                  </a:txBody>
                  <a:tcPr anchor="ctr" marL="91440" marR="91440" marT="36576" marB="36576">
                    <a:solidFill>
                      <a:srgbClr val="FFFFFF"/>
                    </a:solidFill>
                  </a:tcPr>
                </a:tc>
              </a:tr>
              <a:tr h="585216">
                <a:tc>
                  <a:txBody>
                    <a:bodyPr wrap="square"/>
                    <a:lstStyle/>
                    <a:p>
                      <a:r>
                        <a:rPr sz="1400" b="1">
                          <a:solidFill>
                            <a:srgbClr val="0B2F54"/>
                          </a:solidFill>
                          <a:latin typeface="Calibri"/>
                        </a:rPr>
                        <a:t>'playoffs' means made the playoffs</a:t>
                      </a:r>
                    </a:p>
                  </a:txBody>
                  <a:tcPr anchor="ctr" marL="91440" marR="91440" marT="36576" marB="36576">
                    <a:solidFill>
                      <a:srgbClr val="EAF2FA"/>
                    </a:solidFill>
                  </a:tcPr>
                </a:tc>
                <a:tc>
                  <a:txBody>
                    <a:bodyPr wrap="square"/>
                    <a:lstStyle/>
                    <a:p>
                      <a:r>
                        <a:rPr sz="1400" b="0">
                          <a:solidFill>
                            <a:srgbClr val="1F2937"/>
                          </a:solidFill>
                          <a:latin typeface="Calibri"/>
                        </a:rPr>
                        <a:t>It looks like playoff stats but is not</a:t>
                      </a:r>
                    </a:p>
                  </a:txBody>
                  <a:tcPr anchor="ctr" marL="91440" marR="91440" marT="36576" marB="36576">
                    <a:solidFill>
                      <a:srgbClr val="EAF2FA"/>
                    </a:solidFill>
                  </a:tcPr>
                </a:tc>
                <a:tc>
                  <a:txBody>
                    <a:bodyPr wrap="square"/>
                    <a:lstStyle/>
                    <a:p>
                      <a:r>
                        <a:rPr sz="1400" b="0">
                          <a:solidFill>
                            <a:srgbClr val="1F2937"/>
                          </a:solidFill>
                          <a:latin typeface="Calibri"/>
                        </a:rPr>
                        <a:t>Renamed to made_playoffs</a:t>
                      </a:r>
                    </a:p>
                  </a:txBody>
                  <a:tcPr anchor="ctr" marL="91440" marR="91440" marT="36576" marB="36576">
                    <a:solidFill>
                      <a:srgbClr val="EAF2FA"/>
                    </a:solidFill>
                  </a:tcPr>
                </a:tc>
              </a:tr>
              <a:tr h="585216">
                <a:tc>
                  <a:txBody>
                    <a:bodyPr wrap="square"/>
                    <a:lstStyle/>
                    <a:p>
                      <a:r>
                        <a:rPr sz="1400" b="1">
                          <a:solidFill>
                            <a:srgbClr val="0B2F54"/>
                          </a:solidFill>
                          <a:latin typeface="Calibri"/>
                        </a:rPr>
                        <a:t>Rounded values tie</a:t>
                      </a:r>
                    </a:p>
                  </a:txBody>
                  <a:tcPr anchor="ctr" marL="91440" marR="91440" marT="36576" marB="36576">
                    <a:solidFill>
                      <a:srgbClr val="FFFFFF"/>
                    </a:solidFill>
                  </a:tcPr>
                </a:tc>
                <a:tc>
                  <a:txBody>
                    <a:bodyPr wrap="square"/>
                    <a:lstStyle/>
                    <a:p>
                      <a:r>
                        <a:rPr sz="1400" b="0">
                          <a:solidFill>
                            <a:srgbClr val="1F2937"/>
                          </a:solidFill>
                          <a:latin typeface="Calibri"/>
                        </a:rPr>
                        <a:t>Jordan 30.12 and Chamberlain 30.07 both round to 30.1</a:t>
                      </a:r>
                    </a:p>
                  </a:txBody>
                  <a:tcPr anchor="ctr" marL="91440" marR="91440" marT="36576" marB="36576">
                    <a:solidFill>
                      <a:srgbClr val="FFFFFF"/>
                    </a:solidFill>
                  </a:tcPr>
                </a:tc>
                <a:tc>
                  <a:txBody>
                    <a:bodyPr wrap="square"/>
                    <a:lstStyle/>
                    <a:p>
                      <a:r>
                        <a:rPr sz="1400" b="0">
                          <a:solidFill>
                            <a:srgbClr val="1F2937"/>
                          </a:solidFill>
                          <a:latin typeface="Calibri"/>
                        </a:rPr>
                        <a:t>Never round before sorting</a:t>
                      </a:r>
                    </a:p>
                  </a:txBody>
                  <a:tcPr anchor="ctr" marL="91440" marR="91440" marT="36576" marB="36576">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Techniques and tools</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What we used card"/>
          <p:cNvSpPr/>
          <p:nvPr/>
        </p:nvSpPr>
        <p:spPr>
          <a:xfrm>
            <a:off x="502920" y="1143000"/>
            <a:ext cx="4023360" cy="320040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What we used heading"/>
          <p:cNvSpPr txBox="1"/>
          <p:nvPr/>
        </p:nvSpPr>
        <p:spPr>
          <a:xfrm>
            <a:off x="731520" y="1261872"/>
            <a:ext cx="3566160" cy="365760"/>
          </a:xfrm>
          <a:prstGeom prst="rect">
            <a:avLst/>
          </a:prstGeom>
          <a:noFill/>
        </p:spPr>
        <p:txBody>
          <a:bodyPr wrap="square" anchor="t" lIns="0" rIns="0" tIns="0" bIns="0">
            <a:spAutoFit/>
          </a:bodyPr>
          <a:lstStyle/>
          <a:p>
            <a:pPr algn="l">
              <a:spcAft>
                <a:spcPts val="0"/>
              </a:spcAft>
            </a:pPr>
            <a:r>
              <a:rPr sz="2000" b="1" i="0">
                <a:solidFill>
                  <a:srgbClr val="0B2F54"/>
                </a:solidFill>
                <a:latin typeface="Calibri"/>
              </a:rPr>
              <a:t>What we used</a:t>
            </a:r>
          </a:p>
        </p:txBody>
      </p:sp>
      <p:sp>
        <p:nvSpPr>
          <p:cNvPr id="334" name="FaDatabase circle"/>
          <p:cNvSpPr/>
          <p:nvPr/>
        </p:nvSpPr>
        <p:spPr>
          <a:xfrm>
            <a:off x="731520" y="178308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5" name="FaDatabase" descr="DuckDB"/>
          <p:cNvPicPr>
            <a:picLocks noChangeAspect="1"/>
          </p:cNvPicPr>
          <p:nvPr/>
        </p:nvPicPr>
        <p:blipFill>
          <a:blip r:embed="rId2"/>
          <a:stretch>
            <a:fillRect/>
          </a:stretch>
        </p:blipFill>
        <p:spPr>
          <a:xfrm>
            <a:off x="854964" y="1906524"/>
            <a:ext cx="210311" cy="210311"/>
          </a:xfrm>
          <a:prstGeom prst="rect">
            <a:avLst/>
          </a:prstGeom>
        </p:spPr>
      </p:pic>
      <p:sp>
        <p:nvSpPr>
          <p:cNvPr id="336" name="DuckDB label"/>
          <p:cNvSpPr txBox="1"/>
          <p:nvPr/>
        </p:nvSpPr>
        <p:spPr>
          <a:xfrm>
            <a:off x="1325880" y="176479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DuckDB</a:t>
            </a:r>
          </a:p>
        </p:txBody>
      </p:sp>
      <p:sp>
        <p:nvSpPr>
          <p:cNvPr id="337" name="DuckDB note"/>
          <p:cNvSpPr txBox="1"/>
          <p:nvPr/>
        </p:nvSpPr>
        <p:spPr>
          <a:xfrm>
            <a:off x="1325880" y="2029967"/>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SQL straight on CSVs, no server</a:t>
            </a:r>
          </a:p>
        </p:txBody>
      </p:sp>
      <p:sp>
        <p:nvSpPr>
          <p:cNvPr id="338" name="FaMicrochip circle"/>
          <p:cNvSpPr/>
          <p:nvPr/>
        </p:nvSpPr>
        <p:spPr>
          <a:xfrm>
            <a:off x="731520" y="242316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9" name="FaMicrochip" descr="OpenAI and Gemini"/>
          <p:cNvPicPr>
            <a:picLocks noChangeAspect="1"/>
          </p:cNvPicPr>
          <p:nvPr/>
        </p:nvPicPr>
        <p:blipFill>
          <a:blip r:embed="rId4"/>
          <a:stretch>
            <a:fillRect/>
          </a:stretch>
        </p:blipFill>
        <p:spPr>
          <a:xfrm>
            <a:off x="854964" y="2546604"/>
            <a:ext cx="210311" cy="210311"/>
          </a:xfrm>
          <a:prstGeom prst="rect">
            <a:avLst/>
          </a:prstGeom>
        </p:spPr>
      </p:pic>
      <p:sp>
        <p:nvSpPr>
          <p:cNvPr id="340" name="OpenAI and Gemini label"/>
          <p:cNvSpPr txBox="1"/>
          <p:nvPr/>
        </p:nvSpPr>
        <p:spPr>
          <a:xfrm>
            <a:off x="1325880" y="240487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OpenAI and Gemini</a:t>
            </a:r>
          </a:p>
        </p:txBody>
      </p:sp>
      <p:sp>
        <p:nvSpPr>
          <p:cNvPr id="341" name="OpenAI and Gemini note"/>
          <p:cNvSpPr txBox="1"/>
          <p:nvPr/>
        </p:nvSpPr>
        <p:spPr>
          <a:xfrm>
            <a:off x="1325880" y="2670048"/>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function calling through their SDKs</a:t>
            </a:r>
          </a:p>
        </p:txBody>
      </p:sp>
      <p:sp>
        <p:nvSpPr>
          <p:cNvPr id="342" name="FaPalette circle"/>
          <p:cNvSpPr/>
          <p:nvPr/>
        </p:nvSpPr>
        <p:spPr>
          <a:xfrm>
            <a:off x="731520" y="3063239"/>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3" name="FaPalette" descr="Gradio"/>
          <p:cNvPicPr>
            <a:picLocks noChangeAspect="1"/>
          </p:cNvPicPr>
          <p:nvPr/>
        </p:nvPicPr>
        <p:blipFill>
          <a:blip r:embed="rId5"/>
          <a:stretch>
            <a:fillRect/>
          </a:stretch>
        </p:blipFill>
        <p:spPr>
          <a:xfrm>
            <a:off x="854964" y="3186683"/>
            <a:ext cx="210311" cy="210311"/>
          </a:xfrm>
          <a:prstGeom prst="rect">
            <a:avLst/>
          </a:prstGeom>
        </p:spPr>
      </p:pic>
      <p:sp>
        <p:nvSpPr>
          <p:cNvPr id="344" name="Gradio label"/>
          <p:cNvSpPr txBox="1"/>
          <p:nvPr/>
        </p:nvSpPr>
        <p:spPr>
          <a:xfrm>
            <a:off x="1325880" y="3044951"/>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Gradio</a:t>
            </a:r>
          </a:p>
        </p:txBody>
      </p:sp>
      <p:sp>
        <p:nvSpPr>
          <p:cNvPr id="345" name="Gradio note"/>
          <p:cNvSpPr txBox="1"/>
          <p:nvPr/>
        </p:nvSpPr>
        <p:spPr>
          <a:xfrm>
            <a:off x="1325880" y="3310127"/>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the chat interface</a:t>
            </a:r>
          </a:p>
        </p:txBody>
      </p:sp>
      <p:sp>
        <p:nvSpPr>
          <p:cNvPr id="346" name="FaFlask circle"/>
          <p:cNvSpPr/>
          <p:nvPr/>
        </p:nvSpPr>
        <p:spPr>
          <a:xfrm>
            <a:off x="731520" y="370332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7" name="FaFlask" descr="pytest"/>
          <p:cNvPicPr>
            <a:picLocks noChangeAspect="1"/>
          </p:cNvPicPr>
          <p:nvPr/>
        </p:nvPicPr>
        <p:blipFill>
          <a:blip r:embed="rId6"/>
          <a:stretch>
            <a:fillRect/>
          </a:stretch>
        </p:blipFill>
        <p:spPr>
          <a:xfrm>
            <a:off x="854964" y="3826763"/>
            <a:ext cx="210311" cy="210311"/>
          </a:xfrm>
          <a:prstGeom prst="rect">
            <a:avLst/>
          </a:prstGeom>
        </p:spPr>
      </p:pic>
      <p:sp>
        <p:nvSpPr>
          <p:cNvPr id="348" name="pytest label"/>
          <p:cNvSpPr txBox="1"/>
          <p:nvPr/>
        </p:nvSpPr>
        <p:spPr>
          <a:xfrm>
            <a:off x="1325880" y="368503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pytest</a:t>
            </a:r>
          </a:p>
        </p:txBody>
      </p:sp>
      <p:sp>
        <p:nvSpPr>
          <p:cNvPr id="349" name="pytest note"/>
          <p:cNvSpPr txBox="1"/>
          <p:nvPr/>
        </p:nvSpPr>
        <p:spPr>
          <a:xfrm>
            <a:off x="1325880" y="3950208"/>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43 offline tests</a:t>
            </a:r>
          </a:p>
        </p:txBody>
      </p:sp>
      <p:sp>
        <p:nvSpPr>
          <p:cNvPr id="350" name="What is interesting card"/>
          <p:cNvSpPr/>
          <p:nvPr/>
        </p:nvSpPr>
        <p:spPr>
          <a:xfrm>
            <a:off x="4617720" y="1143000"/>
            <a:ext cx="4023360" cy="320040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What is interesting heading"/>
          <p:cNvSpPr txBox="1"/>
          <p:nvPr/>
        </p:nvSpPr>
        <p:spPr>
          <a:xfrm>
            <a:off x="4846320" y="1261872"/>
            <a:ext cx="3566160" cy="365760"/>
          </a:xfrm>
          <a:prstGeom prst="rect">
            <a:avLst/>
          </a:prstGeom>
          <a:noFill/>
        </p:spPr>
        <p:txBody>
          <a:bodyPr wrap="square" anchor="t" lIns="0" rIns="0" tIns="0" bIns="0">
            <a:spAutoFit/>
          </a:bodyPr>
          <a:lstStyle/>
          <a:p>
            <a:pPr algn="l">
              <a:spcAft>
                <a:spcPts val="0"/>
              </a:spcAft>
            </a:pPr>
            <a:r>
              <a:rPr sz="2000" b="1" i="0">
                <a:solidFill>
                  <a:srgbClr val="0B2F54"/>
                </a:solidFill>
                <a:latin typeface="Calibri"/>
              </a:rPr>
              <a:t>What is interesting</a:t>
            </a:r>
          </a:p>
        </p:txBody>
      </p:sp>
      <p:sp>
        <p:nvSpPr>
          <p:cNvPr id="352" name="FaShieldAlt circle"/>
          <p:cNvSpPr/>
          <p:nvPr/>
        </p:nvSpPr>
        <p:spPr>
          <a:xfrm>
            <a:off x="4846320" y="178308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3" name="FaShieldAlt" descr="SQL guard"/>
          <p:cNvPicPr>
            <a:picLocks noChangeAspect="1"/>
          </p:cNvPicPr>
          <p:nvPr/>
        </p:nvPicPr>
        <p:blipFill>
          <a:blip r:embed="rId7"/>
          <a:stretch>
            <a:fillRect/>
          </a:stretch>
        </p:blipFill>
        <p:spPr>
          <a:xfrm>
            <a:off x="4969764" y="1906524"/>
            <a:ext cx="210311" cy="210311"/>
          </a:xfrm>
          <a:prstGeom prst="rect">
            <a:avLst/>
          </a:prstGeom>
        </p:spPr>
      </p:pic>
      <p:sp>
        <p:nvSpPr>
          <p:cNvPr id="354" name="SQL guard label"/>
          <p:cNvSpPr txBox="1"/>
          <p:nvPr/>
        </p:nvSpPr>
        <p:spPr>
          <a:xfrm>
            <a:off x="5440680" y="176479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SQL guard</a:t>
            </a:r>
          </a:p>
        </p:txBody>
      </p:sp>
      <p:sp>
        <p:nvSpPr>
          <p:cNvPr id="355" name="SQL guard note"/>
          <p:cNvSpPr txBox="1"/>
          <p:nvPr/>
        </p:nvSpPr>
        <p:spPr>
          <a:xfrm>
            <a:off x="5440680" y="2029967"/>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read-only, one statement, 20 s timeout</a:t>
            </a:r>
          </a:p>
        </p:txBody>
      </p:sp>
      <p:sp>
        <p:nvSpPr>
          <p:cNvPr id="356" name="FaLayerGroup circle"/>
          <p:cNvSpPr/>
          <p:nvPr/>
        </p:nvSpPr>
        <p:spPr>
          <a:xfrm>
            <a:off x="4846320" y="242316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7" name="FaLayerGroup" descr="Views as a semantic layer"/>
          <p:cNvPicPr>
            <a:picLocks noChangeAspect="1"/>
          </p:cNvPicPr>
          <p:nvPr/>
        </p:nvPicPr>
        <p:blipFill>
          <a:blip r:embed="rId8"/>
          <a:stretch>
            <a:fillRect/>
          </a:stretch>
        </p:blipFill>
        <p:spPr>
          <a:xfrm>
            <a:off x="4969764" y="2546604"/>
            <a:ext cx="210311" cy="210311"/>
          </a:xfrm>
          <a:prstGeom prst="rect">
            <a:avLst/>
          </a:prstGeom>
        </p:spPr>
      </p:pic>
      <p:sp>
        <p:nvSpPr>
          <p:cNvPr id="358" name="Views as a semantic layer label"/>
          <p:cNvSpPr txBox="1"/>
          <p:nvPr/>
        </p:nvSpPr>
        <p:spPr>
          <a:xfrm>
            <a:off x="5440680" y="240487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Views as a semantic layer</a:t>
            </a:r>
          </a:p>
        </p:txBody>
      </p:sp>
      <p:sp>
        <p:nvSpPr>
          <p:cNvPr id="359" name="Views as a semantic layer note"/>
          <p:cNvSpPr txBox="1"/>
          <p:nvPr/>
        </p:nvSpPr>
        <p:spPr>
          <a:xfrm>
            <a:off x="5440680" y="2670048"/>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friendly names and fixed traps</a:t>
            </a:r>
          </a:p>
        </p:txBody>
      </p:sp>
      <p:sp>
        <p:nvSpPr>
          <p:cNvPr id="360" name="FaRedo circle"/>
          <p:cNvSpPr/>
          <p:nvPr/>
        </p:nvSpPr>
        <p:spPr>
          <a:xfrm>
            <a:off x="4846320" y="3063239"/>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1" name="FaRedo" descr="Retry with backoff"/>
          <p:cNvPicPr>
            <a:picLocks noChangeAspect="1"/>
          </p:cNvPicPr>
          <p:nvPr/>
        </p:nvPicPr>
        <p:blipFill>
          <a:blip r:embed="rId9"/>
          <a:stretch>
            <a:fillRect/>
          </a:stretch>
        </p:blipFill>
        <p:spPr>
          <a:xfrm>
            <a:off x="4969764" y="3186683"/>
            <a:ext cx="210311" cy="210311"/>
          </a:xfrm>
          <a:prstGeom prst="rect">
            <a:avLst/>
          </a:prstGeom>
        </p:spPr>
      </p:pic>
      <p:sp>
        <p:nvSpPr>
          <p:cNvPr id="362" name="Retry with backoff label"/>
          <p:cNvSpPr txBox="1"/>
          <p:nvPr/>
        </p:nvSpPr>
        <p:spPr>
          <a:xfrm>
            <a:off x="5440680" y="3044951"/>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Retry with backoff</a:t>
            </a:r>
          </a:p>
        </p:txBody>
      </p:sp>
      <p:sp>
        <p:nvSpPr>
          <p:cNvPr id="363" name="Retry with backoff note"/>
          <p:cNvSpPr txBox="1"/>
          <p:nvPr/>
        </p:nvSpPr>
        <p:spPr>
          <a:xfrm>
            <a:off x="5440680" y="3310127"/>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for free-tier rate limits</a:t>
            </a:r>
          </a:p>
        </p:txBody>
      </p:sp>
      <p:sp>
        <p:nvSpPr>
          <p:cNvPr id="364" name="FaRobot circle"/>
          <p:cNvSpPr/>
          <p:nvPr/>
        </p:nvSpPr>
        <p:spPr>
          <a:xfrm>
            <a:off x="4846320" y="3703320"/>
            <a:ext cx="457200" cy="45720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5" name="FaRobot" descr="Fake model clients"/>
          <p:cNvPicPr>
            <a:picLocks noChangeAspect="1"/>
          </p:cNvPicPr>
          <p:nvPr/>
        </p:nvPicPr>
        <p:blipFill>
          <a:blip r:embed="rId10"/>
          <a:stretch>
            <a:fillRect/>
          </a:stretch>
        </p:blipFill>
        <p:spPr>
          <a:xfrm>
            <a:off x="4969764" y="3826763"/>
            <a:ext cx="210311" cy="210311"/>
          </a:xfrm>
          <a:prstGeom prst="rect">
            <a:avLst/>
          </a:prstGeom>
        </p:spPr>
      </p:pic>
      <p:sp>
        <p:nvSpPr>
          <p:cNvPr id="366" name="Fake model clients label"/>
          <p:cNvSpPr txBox="1"/>
          <p:nvPr/>
        </p:nvSpPr>
        <p:spPr>
          <a:xfrm>
            <a:off x="5440680" y="3685032"/>
            <a:ext cx="3063240" cy="274320"/>
          </a:xfrm>
          <a:prstGeom prst="rect">
            <a:avLst/>
          </a:prstGeom>
          <a:noFill/>
        </p:spPr>
        <p:txBody>
          <a:bodyPr wrap="square" anchor="t" lIns="0" rIns="0" tIns="0" bIns="0">
            <a:spAutoFit/>
          </a:bodyPr>
          <a:lstStyle/>
          <a:p>
            <a:pPr algn="l">
              <a:spcAft>
                <a:spcPts val="0"/>
              </a:spcAft>
            </a:pPr>
            <a:r>
              <a:rPr sz="1600" b="1" i="0">
                <a:solidFill>
                  <a:srgbClr val="1F2937"/>
                </a:solidFill>
                <a:latin typeface="Calibri"/>
              </a:rPr>
              <a:t>Fake model clients</a:t>
            </a:r>
          </a:p>
        </p:txBody>
      </p:sp>
      <p:sp>
        <p:nvSpPr>
          <p:cNvPr id="367" name="Fake model clients note"/>
          <p:cNvSpPr txBox="1"/>
          <p:nvPr/>
        </p:nvSpPr>
        <p:spPr>
          <a:xfrm>
            <a:off x="5440680" y="3950208"/>
            <a:ext cx="3063240" cy="274320"/>
          </a:xfrm>
          <a:prstGeom prst="rect">
            <a:avLst/>
          </a:prstGeom>
          <a:noFill/>
        </p:spPr>
        <p:txBody>
          <a:bodyPr wrap="square" anchor="t" lIns="0" rIns="0" tIns="0" bIns="0">
            <a:spAutoFit/>
          </a:bodyPr>
          <a:lstStyle/>
          <a:p>
            <a:pPr algn="l">
              <a:spcAft>
                <a:spcPts val="0"/>
              </a:spcAft>
            </a:pPr>
            <a:r>
              <a:rPr sz="1300" b="0" i="0">
                <a:solidFill>
                  <a:srgbClr val="4B5563"/>
                </a:solidFill>
                <a:latin typeface="Calibri"/>
              </a:rPr>
              <a:t>tests run with no API keys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Evaluation: how we measure</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graphicFrame>
        <p:nvGraphicFramePr>
          <p:cNvPr id="332" name="questions by category chart"/>
          <p:cNvGraphicFramePr>
            <a:graphicFrameLocks noGrp="1"/>
          </p:cNvGraphicFramePr>
          <p:nvPr/>
        </p:nvGraphicFramePr>
        <p:xfrm>
          <a:off x="457200" y="1463040"/>
          <a:ext cx="4389120" cy="2926080"/>
        </p:xfrm>
        <a:graphic>
          <a:graphicData uri="http://schemas.openxmlformats.org/drawingml/2006/chart">
            <c:chart r:id="rId2"/>
          </a:graphicData>
        </a:graphic>
      </p:graphicFrame>
      <p:sp>
        <p:nvSpPr>
          <p:cNvPr id="333" name="chart caption"/>
          <p:cNvSpPr txBox="1"/>
          <p:nvPr/>
        </p:nvSpPr>
        <p:spPr>
          <a:xfrm>
            <a:off x="502920" y="1097280"/>
            <a:ext cx="4297680" cy="320040"/>
          </a:xfrm>
          <a:prstGeom prst="rect">
            <a:avLst/>
          </a:prstGeom>
          <a:noFill/>
        </p:spPr>
        <p:txBody>
          <a:bodyPr wrap="square" anchor="t" lIns="0" rIns="0" tIns="0" bIns="0">
            <a:spAutoFit/>
          </a:bodyPr>
          <a:lstStyle/>
          <a:p>
            <a:pPr algn="l">
              <a:spcAft>
                <a:spcPts val="0"/>
              </a:spcAft>
            </a:pPr>
            <a:r>
              <a:rPr sz="1500" b="1" i="0">
                <a:solidFill>
                  <a:srgbClr val="0B2F54"/>
                </a:solidFill>
                <a:latin typeface="Calibri"/>
              </a:rPr>
              <a:t>42 questions, by category</a:t>
            </a:r>
          </a:p>
        </p:txBody>
      </p:sp>
      <p:sp>
        <p:nvSpPr>
          <p:cNvPr id="334" name="dev: tune against these card"/>
          <p:cNvSpPr/>
          <p:nvPr/>
        </p:nvSpPr>
        <p:spPr>
          <a:xfrm>
            <a:off x="5120640" y="1143000"/>
            <a:ext cx="3520440" cy="77724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dev: tune against these number"/>
          <p:cNvSpPr txBox="1"/>
          <p:nvPr/>
        </p:nvSpPr>
        <p:spPr>
          <a:xfrm>
            <a:off x="5212080" y="1143000"/>
            <a:ext cx="914400" cy="777240"/>
          </a:xfrm>
          <a:prstGeom prst="rect">
            <a:avLst/>
          </a:prstGeom>
          <a:noFill/>
        </p:spPr>
        <p:txBody>
          <a:bodyPr wrap="square" anchor="ctr" lIns="0" rIns="0" tIns="0" bIns="0">
            <a:spAutoFit/>
          </a:bodyPr>
          <a:lstStyle/>
          <a:p>
            <a:pPr algn="ctr">
              <a:spcAft>
                <a:spcPts val="0"/>
              </a:spcAft>
            </a:pPr>
            <a:r>
              <a:rPr sz="3400" b="1" i="0">
                <a:solidFill>
                  <a:srgbClr val="145DA0"/>
                </a:solidFill>
                <a:latin typeface="Calibri"/>
              </a:rPr>
              <a:t>28</a:t>
            </a:r>
          </a:p>
        </p:txBody>
      </p:sp>
      <p:sp>
        <p:nvSpPr>
          <p:cNvPr id="336" name="dev: tune against these text"/>
          <p:cNvSpPr txBox="1"/>
          <p:nvPr/>
        </p:nvSpPr>
        <p:spPr>
          <a:xfrm>
            <a:off x="6217920" y="1143000"/>
            <a:ext cx="2331720" cy="777240"/>
          </a:xfrm>
          <a:prstGeom prst="rect">
            <a:avLst/>
          </a:prstGeom>
          <a:noFill/>
        </p:spPr>
        <p:txBody>
          <a:bodyPr wrap="square" anchor="ctr" lIns="0" rIns="0" tIns="0" bIns="0">
            <a:spAutoFit/>
          </a:bodyPr>
          <a:lstStyle/>
          <a:p>
            <a:pPr algn="l">
              <a:spcAft>
                <a:spcPts val="0"/>
              </a:spcAft>
            </a:pPr>
            <a:r>
              <a:rPr sz="1500" b="0" i="0">
                <a:solidFill>
                  <a:srgbClr val="1F2937"/>
                </a:solidFill>
                <a:latin typeface="Calibri"/>
              </a:rPr>
              <a:t>dev: tune against these</a:t>
            </a:r>
          </a:p>
        </p:txBody>
      </p:sp>
      <p:sp>
        <p:nvSpPr>
          <p:cNvPr id="337" name="test: held back card"/>
          <p:cNvSpPr/>
          <p:nvPr/>
        </p:nvSpPr>
        <p:spPr>
          <a:xfrm>
            <a:off x="5120640" y="2057400"/>
            <a:ext cx="3520440" cy="77724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st: held back number"/>
          <p:cNvSpPr txBox="1"/>
          <p:nvPr/>
        </p:nvSpPr>
        <p:spPr>
          <a:xfrm>
            <a:off x="5212080" y="2057400"/>
            <a:ext cx="914400" cy="777240"/>
          </a:xfrm>
          <a:prstGeom prst="rect">
            <a:avLst/>
          </a:prstGeom>
          <a:noFill/>
        </p:spPr>
        <p:txBody>
          <a:bodyPr wrap="square" anchor="ctr" lIns="0" rIns="0" tIns="0" bIns="0">
            <a:spAutoFit/>
          </a:bodyPr>
          <a:lstStyle/>
          <a:p>
            <a:pPr algn="ctr">
              <a:spcAft>
                <a:spcPts val="0"/>
              </a:spcAft>
            </a:pPr>
            <a:r>
              <a:rPr sz="3400" b="1" i="0">
                <a:solidFill>
                  <a:srgbClr val="145DA0"/>
                </a:solidFill>
                <a:latin typeface="Calibri"/>
              </a:rPr>
              <a:t>14</a:t>
            </a:r>
          </a:p>
        </p:txBody>
      </p:sp>
      <p:sp>
        <p:nvSpPr>
          <p:cNvPr id="339" name="test: held back text"/>
          <p:cNvSpPr txBox="1"/>
          <p:nvPr/>
        </p:nvSpPr>
        <p:spPr>
          <a:xfrm>
            <a:off x="6217920" y="2057400"/>
            <a:ext cx="2331720" cy="777240"/>
          </a:xfrm>
          <a:prstGeom prst="rect">
            <a:avLst/>
          </a:prstGeom>
          <a:noFill/>
        </p:spPr>
        <p:txBody>
          <a:bodyPr wrap="square" anchor="ctr" lIns="0" rIns="0" tIns="0" bIns="0">
            <a:spAutoFit/>
          </a:bodyPr>
          <a:lstStyle/>
          <a:p>
            <a:pPr algn="l">
              <a:spcAft>
                <a:spcPts val="0"/>
              </a:spcAft>
            </a:pPr>
            <a:r>
              <a:rPr sz="1500" b="0" i="0">
                <a:solidFill>
                  <a:srgbClr val="1F2937"/>
                </a:solidFill>
                <a:latin typeface="Calibri"/>
              </a:rPr>
              <a:t>test: held back</a:t>
            </a:r>
          </a:p>
        </p:txBody>
      </p:sp>
      <p:sp>
        <p:nvSpPr>
          <p:cNvPr id="340" name="grading notes"/>
          <p:cNvSpPr txBox="1"/>
          <p:nvPr/>
        </p:nvSpPr>
        <p:spPr>
          <a:xfrm>
            <a:off x="5120640" y="3063240"/>
            <a:ext cx="3520440" cy="1280160"/>
          </a:xfrm>
          <a:prstGeom prst="rect">
            <a:avLst/>
          </a:prstGeom>
          <a:noFill/>
        </p:spPr>
        <p:txBody>
          <a:bodyPr wrap="square" anchor="t" lIns="0" rIns="0" tIns="0" bIns="0">
            <a:spAutoFit/>
          </a:bodyPr>
          <a:lstStyle/>
          <a:p>
            <a:pPr algn="l">
              <a:spcAft>
                <a:spcPts val="600"/>
              </a:spcAft>
            </a:pPr>
            <a:r>
              <a:rPr sz="1400" b="1" i="0">
                <a:solidFill>
                  <a:srgbClr val="0B2F54"/>
                </a:solidFill>
                <a:latin typeface="Calibri"/>
              </a:rPr>
              <a:t>Gold SQL </a:t>
            </a:r>
            <a:r>
              <a:rPr sz="1400" b="0" i="0">
                <a:solidFill>
                  <a:srgbClr val="1F2937"/>
                </a:solidFill>
                <a:latin typeface="Calibri"/>
              </a:rPr>
              <a:t>runs on the same data the agent uses</a:t>
            </a:r>
          </a:p>
          <a:p>
            <a:pPr algn="l">
              <a:spcAft>
                <a:spcPts val="600"/>
              </a:spcAft>
            </a:pPr>
            <a:r>
              <a:rPr sz="1400" b="1" i="0">
                <a:solidFill>
                  <a:srgbClr val="0B2F54"/>
                </a:solidFill>
                <a:latin typeface="Calibri"/>
              </a:rPr>
              <a:t>Two graders: </a:t>
            </a:r>
            <a:r>
              <a:rPr sz="1400" b="0" i="0">
                <a:solidFill>
                  <a:srgbClr val="1F2937"/>
                </a:solidFill>
                <a:latin typeface="Calibri"/>
              </a:rPr>
              <a:t>automatic match, and a judge from the other provider</a:t>
            </a:r>
          </a:p>
          <a:p>
            <a:pPr algn="l">
              <a:spcAft>
                <a:spcPts val="600"/>
              </a:spcAft>
            </a:pPr>
            <a:r>
              <a:rPr sz="1400" b="1" i="0">
                <a:solidFill>
                  <a:srgbClr val="D96A1E"/>
                </a:solidFill>
                <a:latin typeface="Calibri"/>
              </a:rPr>
              <a:t>Orange bar: </a:t>
            </a:r>
            <a:r>
              <a:rPr sz="1400" b="0" i="0">
                <a:solidFill>
                  <a:srgbClr val="1F2937"/>
                </a:solidFill>
                <a:latin typeface="Calibri"/>
              </a:rPr>
              <a:t>questions the agent must decline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What we have verified so far</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checked heading"/>
          <p:cNvSpPr txBox="1"/>
          <p:nvPr/>
        </p:nvSpPr>
        <p:spPr>
          <a:xfrm>
            <a:off x="502920" y="1097280"/>
            <a:ext cx="3840480" cy="320040"/>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Checked and working</a:t>
            </a:r>
          </a:p>
        </p:txBody>
      </p:sp>
      <p:sp>
        <p:nvSpPr>
          <p:cNvPr id="333" name="FaCheckCircle circle"/>
          <p:cNvSpPr/>
          <p:nvPr/>
        </p:nvSpPr>
        <p:spPr>
          <a:xfrm>
            <a:off x="502920" y="1554480"/>
            <a:ext cx="384048" cy="38404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4" name="FaCheckCircle" descr="check"/>
          <p:cNvPicPr>
            <a:picLocks noChangeAspect="1"/>
          </p:cNvPicPr>
          <p:nvPr/>
        </p:nvPicPr>
        <p:blipFill>
          <a:blip r:embed="rId2"/>
          <a:stretch>
            <a:fillRect/>
          </a:stretch>
        </p:blipFill>
        <p:spPr>
          <a:xfrm>
            <a:off x="606612" y="1658172"/>
            <a:ext cx="176662" cy="176662"/>
          </a:xfrm>
          <a:prstGeom prst="rect">
            <a:avLst/>
          </a:prstGeom>
        </p:spPr>
      </p:pic>
      <p:sp>
        <p:nvSpPr>
          <p:cNvPr id="335" name="check 1"/>
          <p:cNvSpPr txBox="1"/>
          <p:nvPr/>
        </p:nvSpPr>
        <p:spPr>
          <a:xfrm>
            <a:off x="1005840" y="1508760"/>
            <a:ext cx="3383280" cy="502920"/>
          </a:xfrm>
          <a:prstGeom prst="rect">
            <a:avLst/>
          </a:prstGeom>
          <a:noFill/>
        </p:spPr>
        <p:txBody>
          <a:bodyPr wrap="square" anchor="ctr" lIns="0" rIns="0" tIns="0" bIns="0">
            <a:spAutoFit/>
          </a:bodyPr>
          <a:lstStyle/>
          <a:p>
            <a:pPr algn="l">
              <a:spcAft>
                <a:spcPts val="0"/>
              </a:spcAft>
            </a:pPr>
            <a:r>
              <a:rPr sz="1400" b="0" i="0">
                <a:solidFill>
                  <a:srgbClr val="1F2937"/>
                </a:solidFill>
                <a:latin typeface="Calibri"/>
              </a:rPr>
              <a:t>All 12 files load in Colab (Advanced.csv: 33,339 rows)</a:t>
            </a:r>
          </a:p>
        </p:txBody>
      </p:sp>
      <p:sp>
        <p:nvSpPr>
          <p:cNvPr id="336" name="FaCheckCircle circle"/>
          <p:cNvSpPr/>
          <p:nvPr/>
        </p:nvSpPr>
        <p:spPr>
          <a:xfrm>
            <a:off x="502920" y="2121408"/>
            <a:ext cx="384048" cy="38404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7" name="FaCheckCircle" descr="check"/>
          <p:cNvPicPr>
            <a:picLocks noChangeAspect="1"/>
          </p:cNvPicPr>
          <p:nvPr/>
        </p:nvPicPr>
        <p:blipFill>
          <a:blip r:embed="rId2"/>
          <a:stretch>
            <a:fillRect/>
          </a:stretch>
        </p:blipFill>
        <p:spPr>
          <a:xfrm>
            <a:off x="606612" y="2225100"/>
            <a:ext cx="176662" cy="176662"/>
          </a:xfrm>
          <a:prstGeom prst="rect">
            <a:avLst/>
          </a:prstGeom>
        </p:spPr>
      </p:pic>
      <p:sp>
        <p:nvSpPr>
          <p:cNvPr id="338" name="check 2"/>
          <p:cNvSpPr txBox="1"/>
          <p:nvPr/>
        </p:nvSpPr>
        <p:spPr>
          <a:xfrm>
            <a:off x="1005840" y="2075688"/>
            <a:ext cx="3383280" cy="502920"/>
          </a:xfrm>
          <a:prstGeom prst="rect">
            <a:avLst/>
          </a:prstGeom>
          <a:noFill/>
        </p:spPr>
        <p:txBody>
          <a:bodyPr wrap="square" anchor="ctr" lIns="0" rIns="0" tIns="0" bIns="0">
            <a:spAutoFit/>
          </a:bodyPr>
          <a:lstStyle/>
          <a:p>
            <a:pPr algn="l">
              <a:spcAft>
                <a:spcPts val="0"/>
              </a:spcAft>
            </a:pPr>
            <a:r>
              <a:rPr sz="1400" b="0" i="0">
                <a:solidFill>
                  <a:srgbClr val="1F2937"/>
                </a:solidFill>
                <a:latin typeface="Calibri"/>
              </a:rPr>
              <a:t>43 offline tests pass</a:t>
            </a:r>
          </a:p>
        </p:txBody>
      </p:sp>
      <p:sp>
        <p:nvSpPr>
          <p:cNvPr id="339" name="FaCheckCircle circle"/>
          <p:cNvSpPr/>
          <p:nvPr/>
        </p:nvSpPr>
        <p:spPr>
          <a:xfrm>
            <a:off x="502920" y="2688335"/>
            <a:ext cx="384048" cy="38404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0" name="FaCheckCircle" descr="check"/>
          <p:cNvPicPr>
            <a:picLocks noChangeAspect="1"/>
          </p:cNvPicPr>
          <p:nvPr/>
        </p:nvPicPr>
        <p:blipFill>
          <a:blip r:embed="rId2"/>
          <a:stretch>
            <a:fillRect/>
          </a:stretch>
        </p:blipFill>
        <p:spPr>
          <a:xfrm>
            <a:off x="606612" y="2792028"/>
            <a:ext cx="176662" cy="176662"/>
          </a:xfrm>
          <a:prstGeom prst="rect">
            <a:avLst/>
          </a:prstGeom>
        </p:spPr>
      </p:pic>
      <p:sp>
        <p:nvSpPr>
          <p:cNvPr id="341" name="check 3"/>
          <p:cNvSpPr txBox="1"/>
          <p:nvPr/>
        </p:nvSpPr>
        <p:spPr>
          <a:xfrm>
            <a:off x="1005840" y="2642615"/>
            <a:ext cx="3383280" cy="502920"/>
          </a:xfrm>
          <a:prstGeom prst="rect">
            <a:avLst/>
          </a:prstGeom>
          <a:noFill/>
        </p:spPr>
        <p:txBody>
          <a:bodyPr wrap="square" anchor="ctr" lIns="0" rIns="0" tIns="0" bIns="0">
            <a:spAutoFit/>
          </a:bodyPr>
          <a:lstStyle/>
          <a:p>
            <a:pPr algn="l">
              <a:spcAft>
                <a:spcPts val="0"/>
              </a:spcAft>
            </a:pPr>
            <a:r>
              <a:rPr sz="1400" b="0" i="0">
                <a:solidFill>
                  <a:srgbClr val="1F2937"/>
                </a:solidFill>
                <a:latin typeface="Calibri"/>
              </a:rPr>
              <a:t>Agent loops tested with fake OpenAI and Gemini clients</a:t>
            </a:r>
          </a:p>
        </p:txBody>
      </p:sp>
      <p:sp>
        <p:nvSpPr>
          <p:cNvPr id="342" name="FaCheckCircle circle"/>
          <p:cNvSpPr/>
          <p:nvPr/>
        </p:nvSpPr>
        <p:spPr>
          <a:xfrm>
            <a:off x="502920" y="3255263"/>
            <a:ext cx="384048" cy="38404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3" name="FaCheckCircle" descr="check"/>
          <p:cNvPicPr>
            <a:picLocks noChangeAspect="1"/>
          </p:cNvPicPr>
          <p:nvPr/>
        </p:nvPicPr>
        <p:blipFill>
          <a:blip r:embed="rId2"/>
          <a:stretch>
            <a:fillRect/>
          </a:stretch>
        </p:blipFill>
        <p:spPr>
          <a:xfrm>
            <a:off x="606612" y="3358956"/>
            <a:ext cx="176662" cy="176662"/>
          </a:xfrm>
          <a:prstGeom prst="rect">
            <a:avLst/>
          </a:prstGeom>
        </p:spPr>
      </p:pic>
      <p:sp>
        <p:nvSpPr>
          <p:cNvPr id="344" name="check 4"/>
          <p:cNvSpPr txBox="1"/>
          <p:nvPr/>
        </p:nvSpPr>
        <p:spPr>
          <a:xfrm>
            <a:off x="1005840" y="3209544"/>
            <a:ext cx="3383280" cy="502920"/>
          </a:xfrm>
          <a:prstGeom prst="rect">
            <a:avLst/>
          </a:prstGeom>
          <a:noFill/>
        </p:spPr>
        <p:txBody>
          <a:bodyPr wrap="square" anchor="ctr" lIns="0" rIns="0" tIns="0" bIns="0">
            <a:spAutoFit/>
          </a:bodyPr>
          <a:lstStyle/>
          <a:p>
            <a:pPr algn="l">
              <a:spcAft>
                <a:spcPts val="0"/>
              </a:spcAft>
            </a:pPr>
            <a:r>
              <a:rPr sz="1400" b="0" i="0">
                <a:solidFill>
                  <a:srgbClr val="1F2937"/>
                </a:solidFill>
                <a:latin typeface="Calibri"/>
              </a:rPr>
              <a:t>Gold answers checked against known facts</a:t>
            </a:r>
          </a:p>
        </p:txBody>
      </p:sp>
      <p:sp>
        <p:nvSpPr>
          <p:cNvPr id="345" name="facts heading"/>
          <p:cNvSpPr txBox="1"/>
          <p:nvPr/>
        </p:nvSpPr>
        <p:spPr>
          <a:xfrm>
            <a:off x="4663440" y="1097280"/>
            <a:ext cx="3931920" cy="320040"/>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Gold answers from the data</a:t>
            </a:r>
          </a:p>
        </p:txBody>
      </p:sp>
      <p:graphicFrame>
        <p:nvGraphicFramePr>
          <p:cNvPr id="346" name="gold answers table"/>
          <p:cNvGraphicFramePr>
            <a:graphicFrameLocks noGrp="1"/>
          </p:cNvGraphicFramePr>
          <p:nvPr/>
        </p:nvGraphicFramePr>
        <p:xfrm>
          <a:off x="4663440" y="1554480"/>
          <a:ext cx="3931920" cy="2103120"/>
        </p:xfrm>
        <a:graphic>
          <a:graphicData uri="http://schemas.openxmlformats.org/drawingml/2006/table">
            <a:tbl>
              <a:tblPr>
                <a:tableStyleId>{5C22544A-7EE6-4342-B048-85BDC9FD1C3A}</a:tableStyleId>
              </a:tblPr>
              <a:tblGrid>
                <a:gridCol w="2377440"/>
                <a:gridCol w="1554480"/>
              </a:tblGrid>
              <a:tr h="420624">
                <a:tc>
                  <a:txBody>
                    <a:bodyPr/>
                    <a:lstStyle/>
                    <a:p>
                      <a:r>
                        <a:rPr sz="1300" b="0">
                          <a:solidFill>
                            <a:srgbClr val="1F2937"/>
                          </a:solidFill>
                          <a:latin typeface="Calibri"/>
                        </a:rPr>
                        <a:t>Luka Dončić, 2023-24 scoring</a:t>
                      </a:r>
                    </a:p>
                  </a:txBody>
                  <a:tcPr anchor="ctr" marL="73152" marR="73152">
                    <a:solidFill>
                      <a:srgbClr val="EAF2FA"/>
                    </a:solidFill>
                  </a:tcPr>
                </a:tc>
                <a:tc>
                  <a:txBody>
                    <a:bodyPr/>
                    <a:lstStyle/>
                    <a:p>
                      <a:r>
                        <a:rPr sz="1300" b="1">
                          <a:solidFill>
                            <a:srgbClr val="145DA0"/>
                          </a:solidFill>
                          <a:latin typeface="Calibri"/>
                        </a:rPr>
                        <a:t>33.9 ppg</a:t>
                      </a:r>
                    </a:p>
                  </a:txBody>
                  <a:tcPr anchor="ctr" marL="73152" marR="73152">
                    <a:solidFill>
                      <a:srgbClr val="EAF2FA"/>
                    </a:solidFill>
                  </a:tcPr>
                </a:tc>
              </a:tr>
              <a:tr h="420624">
                <a:tc>
                  <a:txBody>
                    <a:bodyPr/>
                    <a:lstStyle/>
                    <a:p>
                      <a:r>
                        <a:rPr sz="1300" b="0">
                          <a:solidFill>
                            <a:srgbClr val="1F2937"/>
                          </a:solidFill>
                          <a:latin typeface="Calibri"/>
                        </a:rPr>
                        <a:t>Stephen Curry, 2015-16 threes</a:t>
                      </a:r>
                    </a:p>
                  </a:txBody>
                  <a:tcPr anchor="ctr" marL="73152" marR="73152">
                    <a:solidFill>
                      <a:srgbClr val="FFFFFF"/>
                    </a:solidFill>
                  </a:tcPr>
                </a:tc>
                <a:tc>
                  <a:txBody>
                    <a:bodyPr/>
                    <a:lstStyle/>
                    <a:p>
                      <a:r>
                        <a:rPr sz="1300" b="1">
                          <a:solidFill>
                            <a:srgbClr val="145DA0"/>
                          </a:solidFill>
                          <a:latin typeface="Calibri"/>
                        </a:rPr>
                        <a:t>402</a:t>
                      </a:r>
                    </a:p>
                  </a:txBody>
                  <a:tcPr anchor="ctr" marL="73152" marR="73152">
                    <a:solidFill>
                      <a:srgbClr val="FFFFFF"/>
                    </a:solidFill>
                  </a:tcPr>
                </a:tc>
              </a:tr>
              <a:tr h="420624">
                <a:tc>
                  <a:txBody>
                    <a:bodyPr/>
                    <a:lstStyle/>
                    <a:p>
                      <a:r>
                        <a:rPr sz="1300" b="0">
                          <a:solidFill>
                            <a:srgbClr val="1F2937"/>
                          </a:solidFill>
                          <a:latin typeface="Calibri"/>
                        </a:rPr>
                        <a:t>Best record, 2015-16</a:t>
                      </a:r>
                    </a:p>
                  </a:txBody>
                  <a:tcPr anchor="ctr" marL="73152" marR="73152">
                    <a:solidFill>
                      <a:srgbClr val="EAF2FA"/>
                    </a:solidFill>
                  </a:tcPr>
                </a:tc>
                <a:tc>
                  <a:txBody>
                    <a:bodyPr/>
                    <a:lstStyle/>
                    <a:p>
                      <a:r>
                        <a:rPr sz="1300" b="1">
                          <a:solidFill>
                            <a:srgbClr val="145DA0"/>
                          </a:solidFill>
                          <a:latin typeface="Calibri"/>
                        </a:rPr>
                        <a:t>Warriors, 73-9</a:t>
                      </a:r>
                    </a:p>
                  </a:txBody>
                  <a:tcPr anchor="ctr" marL="73152" marR="73152">
                    <a:solidFill>
                      <a:srgbClr val="EAF2FA"/>
                    </a:solidFill>
                  </a:tcPr>
                </a:tc>
              </a:tr>
              <a:tr h="420624">
                <a:tc>
                  <a:txBody>
                    <a:bodyPr/>
                    <a:lstStyle/>
                    <a:p>
                      <a:r>
                        <a:rPr sz="1300" b="0">
                          <a:solidFill>
                            <a:srgbClr val="1F2937"/>
                          </a:solidFill>
                          <a:latin typeface="Calibri"/>
                        </a:rPr>
                        <a:t>Most triple-doubles in a season</a:t>
                      </a:r>
                    </a:p>
                  </a:txBody>
                  <a:tcPr anchor="ctr" marL="73152" marR="73152">
                    <a:solidFill>
                      <a:srgbClr val="FFFFFF"/>
                    </a:solidFill>
                  </a:tcPr>
                </a:tc>
                <a:tc>
                  <a:txBody>
                    <a:bodyPr/>
                    <a:lstStyle/>
                    <a:p>
                      <a:r>
                        <a:rPr sz="1300" b="1">
                          <a:solidFill>
                            <a:srgbClr val="145DA0"/>
                          </a:solidFill>
                          <a:latin typeface="Calibri"/>
                        </a:rPr>
                        <a:t>Westbrook, 42</a:t>
                      </a:r>
                    </a:p>
                  </a:txBody>
                  <a:tcPr anchor="ctr" marL="73152" marR="73152">
                    <a:solidFill>
                      <a:srgbClr val="FFFFFF"/>
                    </a:solidFill>
                  </a:tcPr>
                </a:tc>
              </a:tr>
              <a:tr h="420624">
                <a:tc>
                  <a:txBody>
                    <a:bodyPr/>
                    <a:lstStyle/>
                    <a:p>
                      <a:r>
                        <a:rPr sz="1300" b="0">
                          <a:solidFill>
                            <a:srgbClr val="1F2937"/>
                          </a:solidFill>
                          <a:latin typeface="Calibri"/>
                        </a:rPr>
                        <a:t>Career ppg leader, 10,000+ points</a:t>
                      </a:r>
                    </a:p>
                  </a:txBody>
                  <a:tcPr anchor="ctr" marL="73152" marR="73152">
                    <a:solidFill>
                      <a:srgbClr val="EAF2FA"/>
                    </a:solidFill>
                  </a:tcPr>
                </a:tc>
                <a:tc>
                  <a:txBody>
                    <a:bodyPr/>
                    <a:lstStyle/>
                    <a:p>
                      <a:r>
                        <a:rPr sz="1300" b="1">
                          <a:solidFill>
                            <a:srgbClr val="145DA0"/>
                          </a:solidFill>
                          <a:latin typeface="Calibri"/>
                        </a:rPr>
                        <a:t>Jordan, 30.1</a:t>
                      </a:r>
                    </a:p>
                  </a:txBody>
                  <a:tcPr anchor="ctr" marL="73152" marR="73152">
                    <a:solidFill>
                      <a:srgbClr val="EAF2FA"/>
                    </a:solidFill>
                  </a:tcPr>
                </a:tc>
              </a:tr>
            </a:tbl>
          </a:graphicData>
        </a:graphic>
      </p:graphicFrame>
      <p:sp>
        <p:nvSpPr>
          <p:cNvPr id="347" name="next step banner"/>
          <p:cNvSpPr/>
          <p:nvPr/>
        </p:nvSpPr>
        <p:spPr>
          <a:xfrm>
            <a:off x="502920" y="3886200"/>
            <a:ext cx="8138160" cy="548640"/>
          </a:xfrm>
          <a:prstGeom prst="roundRect">
            <a:avLst>
              <a:gd name="adj" fmla="val 6000"/>
            </a:avLst>
          </a:prstGeom>
          <a:solidFill>
            <a:srgbClr val="D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next step text"/>
          <p:cNvSpPr txBox="1"/>
          <p:nvPr/>
        </p:nvSpPr>
        <p:spPr>
          <a:xfrm>
            <a:off x="731520" y="3886200"/>
            <a:ext cx="7680960" cy="548640"/>
          </a:xfrm>
          <a:prstGeom prst="rect">
            <a:avLst/>
          </a:prstGeom>
          <a:noFill/>
        </p:spPr>
        <p:txBody>
          <a:bodyPr wrap="square" anchor="ctr" lIns="0" rIns="0" tIns="0" bIns="0">
            <a:spAutoFit/>
          </a:bodyPr>
          <a:lstStyle/>
          <a:p>
            <a:pPr algn="l">
              <a:spcAft>
                <a:spcPts val="0"/>
              </a:spcAft>
            </a:pPr>
            <a:r>
              <a:rPr sz="1600" b="1" i="0">
                <a:solidFill>
                  <a:srgbClr val="FFFFFF"/>
                </a:solidFill>
                <a:latin typeface="Calibri"/>
              </a:rPr>
              <a:t>Next: </a:t>
            </a:r>
            <a:r>
              <a:rPr sz="1600" b="0" i="0">
                <a:solidFill>
                  <a:srgbClr val="FFFFFF"/>
                </a:solidFill>
                <a:latin typeface="Calibri"/>
              </a:rPr>
              <a:t>the first live accuracy run, OpenAI against Gemini on the 28 dev questions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Evaluating does not train the model</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step 1 card"/>
          <p:cNvSpPr/>
          <p:nvPr/>
        </p:nvSpPr>
        <p:spPr>
          <a:xfrm>
            <a:off x="502920" y="1188720"/>
            <a:ext cx="1737360" cy="13258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FaRedo circle"/>
          <p:cNvSpPr/>
          <p:nvPr/>
        </p:nvSpPr>
        <p:spPr>
          <a:xfrm>
            <a:off x="1120140" y="1298448"/>
            <a:ext cx="502920" cy="5029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4" name="FaRedo" descr="Run dev"/>
          <p:cNvPicPr>
            <a:picLocks noChangeAspect="1"/>
          </p:cNvPicPr>
          <p:nvPr/>
        </p:nvPicPr>
        <p:blipFill>
          <a:blip r:embed="rId2"/>
          <a:stretch>
            <a:fillRect/>
          </a:stretch>
        </p:blipFill>
        <p:spPr>
          <a:xfrm>
            <a:off x="1255928" y="1434236"/>
            <a:ext cx="231343" cy="231343"/>
          </a:xfrm>
          <a:prstGeom prst="rect">
            <a:avLst/>
          </a:prstGeom>
        </p:spPr>
      </p:pic>
      <p:sp>
        <p:nvSpPr>
          <p:cNvPr id="335" name="step 1 label"/>
          <p:cNvSpPr txBox="1"/>
          <p:nvPr/>
        </p:nvSpPr>
        <p:spPr>
          <a:xfrm>
            <a:off x="594360" y="1874519"/>
            <a:ext cx="155448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Run dev</a:t>
            </a:r>
          </a:p>
        </p:txBody>
      </p:sp>
      <p:sp>
        <p:nvSpPr>
          <p:cNvPr id="336" name="loop arrow 1"/>
          <p:cNvSpPr/>
          <p:nvPr/>
        </p:nvSpPr>
        <p:spPr>
          <a:xfrm>
            <a:off x="2304288" y="1737360"/>
            <a:ext cx="28346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step 2 card"/>
          <p:cNvSpPr/>
          <p:nvPr/>
        </p:nvSpPr>
        <p:spPr>
          <a:xfrm>
            <a:off x="2651760" y="1188720"/>
            <a:ext cx="1737360" cy="13258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FaSearch circle"/>
          <p:cNvSpPr/>
          <p:nvPr/>
        </p:nvSpPr>
        <p:spPr>
          <a:xfrm>
            <a:off x="3268980" y="1298448"/>
            <a:ext cx="502920" cy="5029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9" name="FaSearch" descr="Read the failures"/>
          <p:cNvPicPr>
            <a:picLocks noChangeAspect="1"/>
          </p:cNvPicPr>
          <p:nvPr/>
        </p:nvPicPr>
        <p:blipFill>
          <a:blip r:embed="rId4"/>
          <a:stretch>
            <a:fillRect/>
          </a:stretch>
        </p:blipFill>
        <p:spPr>
          <a:xfrm>
            <a:off x="3404768" y="1434236"/>
            <a:ext cx="231343" cy="231343"/>
          </a:xfrm>
          <a:prstGeom prst="rect">
            <a:avLst/>
          </a:prstGeom>
        </p:spPr>
      </p:pic>
      <p:sp>
        <p:nvSpPr>
          <p:cNvPr id="340" name="step 2 label"/>
          <p:cNvSpPr txBox="1"/>
          <p:nvPr/>
        </p:nvSpPr>
        <p:spPr>
          <a:xfrm>
            <a:off x="2743200" y="1874519"/>
            <a:ext cx="155448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Read the failures</a:t>
            </a:r>
          </a:p>
        </p:txBody>
      </p:sp>
      <p:sp>
        <p:nvSpPr>
          <p:cNvPr id="341" name="loop arrow 2"/>
          <p:cNvSpPr/>
          <p:nvPr/>
        </p:nvSpPr>
        <p:spPr>
          <a:xfrm>
            <a:off x="4453128" y="1737360"/>
            <a:ext cx="28346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step 3 card"/>
          <p:cNvSpPr/>
          <p:nvPr/>
        </p:nvSpPr>
        <p:spPr>
          <a:xfrm>
            <a:off x="4800600" y="1188720"/>
            <a:ext cx="1737360" cy="13258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FaCogs circle"/>
          <p:cNvSpPr/>
          <p:nvPr/>
        </p:nvSpPr>
        <p:spPr>
          <a:xfrm>
            <a:off x="5417820" y="1298448"/>
            <a:ext cx="502920" cy="5029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4" name="FaCogs" descr="Change one thing"/>
          <p:cNvPicPr>
            <a:picLocks noChangeAspect="1"/>
          </p:cNvPicPr>
          <p:nvPr/>
        </p:nvPicPr>
        <p:blipFill>
          <a:blip r:embed="rId5"/>
          <a:stretch>
            <a:fillRect/>
          </a:stretch>
        </p:blipFill>
        <p:spPr>
          <a:xfrm>
            <a:off x="5553608" y="1434236"/>
            <a:ext cx="231343" cy="231343"/>
          </a:xfrm>
          <a:prstGeom prst="rect">
            <a:avLst/>
          </a:prstGeom>
        </p:spPr>
      </p:pic>
      <p:sp>
        <p:nvSpPr>
          <p:cNvPr id="345" name="step 3 label"/>
          <p:cNvSpPr txBox="1"/>
          <p:nvPr/>
        </p:nvSpPr>
        <p:spPr>
          <a:xfrm>
            <a:off x="4892040" y="1874519"/>
            <a:ext cx="155448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Change one thing</a:t>
            </a:r>
          </a:p>
        </p:txBody>
      </p:sp>
      <p:sp>
        <p:nvSpPr>
          <p:cNvPr id="346" name="loop arrow 3"/>
          <p:cNvSpPr/>
          <p:nvPr/>
        </p:nvSpPr>
        <p:spPr>
          <a:xfrm>
            <a:off x="6601968" y="1737360"/>
            <a:ext cx="283464"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step 4 card"/>
          <p:cNvSpPr/>
          <p:nvPr/>
        </p:nvSpPr>
        <p:spPr>
          <a:xfrm>
            <a:off x="6949440" y="1188720"/>
            <a:ext cx="1737360" cy="13258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FaChartBar circle"/>
          <p:cNvSpPr/>
          <p:nvPr/>
        </p:nvSpPr>
        <p:spPr>
          <a:xfrm>
            <a:off x="7566660" y="1298448"/>
            <a:ext cx="502920" cy="50292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9" name="FaChartBar" descr="Rerun dev"/>
          <p:cNvPicPr>
            <a:picLocks noChangeAspect="1"/>
          </p:cNvPicPr>
          <p:nvPr/>
        </p:nvPicPr>
        <p:blipFill>
          <a:blip r:embed="rId6"/>
          <a:stretch>
            <a:fillRect/>
          </a:stretch>
        </p:blipFill>
        <p:spPr>
          <a:xfrm>
            <a:off x="7702448" y="1434236"/>
            <a:ext cx="231343" cy="231343"/>
          </a:xfrm>
          <a:prstGeom prst="rect">
            <a:avLst/>
          </a:prstGeom>
        </p:spPr>
      </p:pic>
      <p:sp>
        <p:nvSpPr>
          <p:cNvPr id="350" name="step 4 label"/>
          <p:cNvSpPr txBox="1"/>
          <p:nvPr/>
        </p:nvSpPr>
        <p:spPr>
          <a:xfrm>
            <a:off x="7040880" y="1874519"/>
            <a:ext cx="155448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Rerun dev</a:t>
            </a:r>
          </a:p>
        </p:txBody>
      </p:sp>
      <p:sp>
        <p:nvSpPr>
          <p:cNvPr id="351" name="Overfitting card"/>
          <p:cNvSpPr/>
          <p:nvPr/>
        </p:nvSpPr>
        <p:spPr>
          <a:xfrm>
            <a:off x="502920" y="2788920"/>
            <a:ext cx="4023360" cy="160020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FaEye circle"/>
          <p:cNvSpPr/>
          <p:nvPr/>
        </p:nvSpPr>
        <p:spPr>
          <a:xfrm>
            <a:off x="685800" y="2944368"/>
            <a:ext cx="457200" cy="457200"/>
          </a:xfrm>
          <a:prstGeom prst="ellipse">
            <a:avLst/>
          </a:prstGeom>
          <a:solidFill>
            <a:srgbClr val="D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3" name="FaEye" descr="Overfitting"/>
          <p:cNvPicPr>
            <a:picLocks noChangeAspect="1"/>
          </p:cNvPicPr>
          <p:nvPr/>
        </p:nvPicPr>
        <p:blipFill>
          <a:blip r:embed="rId7"/>
          <a:stretch>
            <a:fillRect/>
          </a:stretch>
        </p:blipFill>
        <p:spPr>
          <a:xfrm>
            <a:off x="809244" y="3067812"/>
            <a:ext cx="210311" cy="210311"/>
          </a:xfrm>
          <a:prstGeom prst="rect">
            <a:avLst/>
          </a:prstGeom>
        </p:spPr>
      </p:pic>
      <p:sp>
        <p:nvSpPr>
          <p:cNvPr id="354" name="Overfitting heading"/>
          <p:cNvSpPr txBox="1"/>
          <p:nvPr/>
        </p:nvSpPr>
        <p:spPr>
          <a:xfrm>
            <a:off x="1280160" y="2971800"/>
            <a:ext cx="3108960" cy="365760"/>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Overfitting</a:t>
            </a:r>
          </a:p>
        </p:txBody>
      </p:sp>
      <p:sp>
        <p:nvSpPr>
          <p:cNvPr id="355" name="Overfitting text"/>
          <p:cNvSpPr txBox="1"/>
          <p:nvPr/>
        </p:nvSpPr>
        <p:spPr>
          <a:xfrm>
            <a:off x="685800" y="3520440"/>
            <a:ext cx="3657600" cy="82296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Tuning on the same questions fits those questions. Run the held-out test set once, at the end.</a:t>
            </a:r>
          </a:p>
        </p:txBody>
      </p:sp>
      <p:sp>
        <p:nvSpPr>
          <p:cNvPr id="356" name="Noise card"/>
          <p:cNvSpPr/>
          <p:nvPr/>
        </p:nvSpPr>
        <p:spPr>
          <a:xfrm>
            <a:off x="4617720" y="2788920"/>
            <a:ext cx="4023360" cy="160020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FaComments circle"/>
          <p:cNvSpPr/>
          <p:nvPr/>
        </p:nvSpPr>
        <p:spPr>
          <a:xfrm>
            <a:off x="4800600" y="2944368"/>
            <a:ext cx="457200" cy="457200"/>
          </a:xfrm>
          <a:prstGeom prst="ellipse">
            <a:avLst/>
          </a:prstGeom>
          <a:solidFill>
            <a:srgbClr val="D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8" name="FaComments" descr="Noise"/>
          <p:cNvPicPr>
            <a:picLocks noChangeAspect="1"/>
          </p:cNvPicPr>
          <p:nvPr/>
        </p:nvPicPr>
        <p:blipFill>
          <a:blip r:embed="rId8"/>
          <a:stretch>
            <a:fillRect/>
          </a:stretch>
        </p:blipFill>
        <p:spPr>
          <a:xfrm>
            <a:off x="4924044" y="3067812"/>
            <a:ext cx="210311" cy="210311"/>
          </a:xfrm>
          <a:prstGeom prst="rect">
            <a:avLst/>
          </a:prstGeom>
        </p:spPr>
      </p:pic>
      <p:sp>
        <p:nvSpPr>
          <p:cNvPr id="359" name="Noise heading"/>
          <p:cNvSpPr txBox="1"/>
          <p:nvPr/>
        </p:nvSpPr>
        <p:spPr>
          <a:xfrm>
            <a:off x="5394959" y="2971800"/>
            <a:ext cx="3108960" cy="365760"/>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Noise</a:t>
            </a:r>
          </a:p>
        </p:txBody>
      </p:sp>
      <p:sp>
        <p:nvSpPr>
          <p:cNvPr id="360" name="Noise text"/>
          <p:cNvSpPr txBox="1"/>
          <p:nvPr/>
        </p:nvSpPr>
        <p:spPr>
          <a:xfrm>
            <a:off x="4800600" y="3520440"/>
            <a:ext cx="3657600" cy="82296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Answers vary between runs. Average two or three runs before believing a change.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The models build the app</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We write a brief card"/>
          <p:cNvSpPr/>
          <p:nvPr/>
        </p:nvSpPr>
        <p:spPr>
          <a:xfrm>
            <a:off x="457200" y="1188720"/>
            <a:ext cx="1783080" cy="22402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FaUserEdit circle"/>
          <p:cNvSpPr/>
          <p:nvPr/>
        </p:nvSpPr>
        <p:spPr>
          <a:xfrm>
            <a:off x="1074420" y="132588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4" name="FaUserEdit" descr="We write a brief"/>
          <p:cNvPicPr>
            <a:picLocks noChangeAspect="1"/>
          </p:cNvPicPr>
          <p:nvPr/>
        </p:nvPicPr>
        <p:blipFill>
          <a:blip r:embed="rId2"/>
          <a:stretch>
            <a:fillRect/>
          </a:stretch>
        </p:blipFill>
        <p:spPr>
          <a:xfrm>
            <a:off x="1222552" y="1474012"/>
            <a:ext cx="252374" cy="252374"/>
          </a:xfrm>
          <a:prstGeom prst="rect">
            <a:avLst/>
          </a:prstGeom>
        </p:spPr>
      </p:pic>
      <p:sp>
        <p:nvSpPr>
          <p:cNvPr id="335" name="We write a brief label"/>
          <p:cNvSpPr txBox="1"/>
          <p:nvPr/>
        </p:nvSpPr>
        <p:spPr>
          <a:xfrm>
            <a:off x="548640" y="1965960"/>
            <a:ext cx="160020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We write a brief</a:t>
            </a:r>
          </a:p>
        </p:txBody>
      </p:sp>
      <p:sp>
        <p:nvSpPr>
          <p:cNvPr id="336" name="We write a brief note"/>
          <p:cNvSpPr txBox="1"/>
          <p:nvPr/>
        </p:nvSpPr>
        <p:spPr>
          <a:xfrm>
            <a:off x="566928" y="2606040"/>
            <a:ext cx="1563624" cy="777240"/>
          </a:xfrm>
          <a:prstGeom prst="rect">
            <a:avLst/>
          </a:prstGeom>
          <a:noFill/>
        </p:spPr>
        <p:txBody>
          <a:bodyPr wrap="square" anchor="t" lIns="0" rIns="0" tIns="0" bIns="0">
            <a:spAutoFit/>
          </a:bodyPr>
          <a:lstStyle/>
          <a:p>
            <a:pPr algn="ctr">
              <a:spcAft>
                <a:spcPts val="0"/>
              </a:spcAft>
            </a:pPr>
            <a:r>
              <a:rPr sz="1300" b="0" i="0">
                <a:solidFill>
                  <a:srgbClr val="1F2937"/>
                </a:solidFill>
                <a:latin typeface="Calibri"/>
              </a:rPr>
              <a:t>what the app must do, not how it looks</a:t>
            </a:r>
          </a:p>
        </p:txBody>
      </p:sp>
      <p:sp>
        <p:nvSpPr>
          <p:cNvPr id="337" name="app arrow 1"/>
          <p:cNvSpPr/>
          <p:nvPr/>
        </p:nvSpPr>
        <p:spPr>
          <a:xfrm>
            <a:off x="2286000" y="2148840"/>
            <a:ext cx="256032"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A model designs it card"/>
          <p:cNvSpPr/>
          <p:nvPr/>
        </p:nvSpPr>
        <p:spPr>
          <a:xfrm>
            <a:off x="2587752" y="1188720"/>
            <a:ext cx="1783080" cy="22402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FaPalette circle"/>
          <p:cNvSpPr/>
          <p:nvPr/>
        </p:nvSpPr>
        <p:spPr>
          <a:xfrm>
            <a:off x="3204972" y="132588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0" name="FaPalette" descr="A model designs it"/>
          <p:cNvPicPr>
            <a:picLocks noChangeAspect="1"/>
          </p:cNvPicPr>
          <p:nvPr/>
        </p:nvPicPr>
        <p:blipFill>
          <a:blip r:embed="rId4"/>
          <a:stretch>
            <a:fillRect/>
          </a:stretch>
        </p:blipFill>
        <p:spPr>
          <a:xfrm>
            <a:off x="3353104" y="1474012"/>
            <a:ext cx="252374" cy="252374"/>
          </a:xfrm>
          <a:prstGeom prst="rect">
            <a:avLst/>
          </a:prstGeom>
        </p:spPr>
      </p:pic>
      <p:sp>
        <p:nvSpPr>
          <p:cNvPr id="341" name="A model designs it label"/>
          <p:cNvSpPr txBox="1"/>
          <p:nvPr/>
        </p:nvSpPr>
        <p:spPr>
          <a:xfrm>
            <a:off x="2679192" y="1965960"/>
            <a:ext cx="160020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A model designs it</a:t>
            </a:r>
          </a:p>
        </p:txBody>
      </p:sp>
      <p:sp>
        <p:nvSpPr>
          <p:cNvPr id="342" name="A model designs it note"/>
          <p:cNvSpPr txBox="1"/>
          <p:nvPr/>
        </p:nvSpPr>
        <p:spPr>
          <a:xfrm>
            <a:off x="2697480" y="2606040"/>
            <a:ext cx="1563624" cy="777240"/>
          </a:xfrm>
          <a:prstGeom prst="rect">
            <a:avLst/>
          </a:prstGeom>
          <a:noFill/>
        </p:spPr>
        <p:txBody>
          <a:bodyPr wrap="square" anchor="t" lIns="0" rIns="0" tIns="0" bIns="0">
            <a:spAutoFit/>
          </a:bodyPr>
          <a:lstStyle/>
          <a:p>
            <a:pPr algn="ctr">
              <a:spcAft>
                <a:spcPts val="0"/>
              </a:spcAft>
            </a:pPr>
            <a:r>
              <a:rPr sz="1300" b="0" i="0">
                <a:solidFill>
                  <a:srgbClr val="1F2937"/>
                </a:solidFill>
                <a:latin typeface="Calibri"/>
              </a:rPr>
              <a:t>OpenAI or Gemini writes the code</a:t>
            </a:r>
          </a:p>
        </p:txBody>
      </p:sp>
      <p:sp>
        <p:nvSpPr>
          <p:cNvPr id="343" name="app arrow 2"/>
          <p:cNvSpPr/>
          <p:nvPr/>
        </p:nvSpPr>
        <p:spPr>
          <a:xfrm>
            <a:off x="4416552" y="2148840"/>
            <a:ext cx="256032"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Automatic checks card"/>
          <p:cNvSpPr/>
          <p:nvPr/>
        </p:nvSpPr>
        <p:spPr>
          <a:xfrm>
            <a:off x="4718304" y="1188720"/>
            <a:ext cx="1783080" cy="22402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FaShieldAlt circle"/>
          <p:cNvSpPr/>
          <p:nvPr/>
        </p:nvSpPr>
        <p:spPr>
          <a:xfrm>
            <a:off x="5335524" y="132588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6" name="FaShieldAlt" descr="Automatic checks"/>
          <p:cNvPicPr>
            <a:picLocks noChangeAspect="1"/>
          </p:cNvPicPr>
          <p:nvPr/>
        </p:nvPicPr>
        <p:blipFill>
          <a:blip r:embed="rId5"/>
          <a:stretch>
            <a:fillRect/>
          </a:stretch>
        </p:blipFill>
        <p:spPr>
          <a:xfrm>
            <a:off x="5483656" y="1474012"/>
            <a:ext cx="252374" cy="252374"/>
          </a:xfrm>
          <a:prstGeom prst="rect">
            <a:avLst/>
          </a:prstGeom>
        </p:spPr>
      </p:pic>
      <p:sp>
        <p:nvSpPr>
          <p:cNvPr id="347" name="Automatic checks label"/>
          <p:cNvSpPr txBox="1"/>
          <p:nvPr/>
        </p:nvSpPr>
        <p:spPr>
          <a:xfrm>
            <a:off x="4809744" y="1965960"/>
            <a:ext cx="160020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Automatic checks</a:t>
            </a:r>
          </a:p>
        </p:txBody>
      </p:sp>
      <p:sp>
        <p:nvSpPr>
          <p:cNvPr id="348" name="Automatic checks note"/>
          <p:cNvSpPr txBox="1"/>
          <p:nvPr/>
        </p:nvSpPr>
        <p:spPr>
          <a:xfrm>
            <a:off x="4828032" y="2606040"/>
            <a:ext cx="1563624" cy="777240"/>
          </a:xfrm>
          <a:prstGeom prst="rect">
            <a:avLst/>
          </a:prstGeom>
          <a:noFill/>
        </p:spPr>
        <p:txBody>
          <a:bodyPr wrap="square" anchor="t" lIns="0" rIns="0" tIns="0" bIns="0">
            <a:spAutoFit/>
          </a:bodyPr>
          <a:lstStyle/>
          <a:p>
            <a:pPr algn="ctr">
              <a:spcAft>
                <a:spcPts val="0"/>
              </a:spcAft>
            </a:pPr>
            <a:r>
              <a:rPr sz="1300" b="0" i="0">
                <a:solidFill>
                  <a:srgbClr val="1F2937"/>
                </a:solidFill>
                <a:latin typeface="Calibri"/>
              </a:rPr>
              <a:t>valid Python, uses the agent, risky calls flagged</a:t>
            </a:r>
          </a:p>
        </p:txBody>
      </p:sp>
      <p:sp>
        <p:nvSpPr>
          <p:cNvPr id="349" name="app arrow 3"/>
          <p:cNvSpPr/>
          <p:nvPr/>
        </p:nvSpPr>
        <p:spPr>
          <a:xfrm>
            <a:off x="6547104" y="2148840"/>
            <a:ext cx="256032" cy="274320"/>
          </a:xfrm>
          <a:prstGeom prst="rightArrow">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We review and iterate card"/>
          <p:cNvSpPr/>
          <p:nvPr/>
        </p:nvSpPr>
        <p:spPr>
          <a:xfrm>
            <a:off x="6848856" y="1188720"/>
            <a:ext cx="1783080" cy="2240280"/>
          </a:xfrm>
          <a:prstGeom prst="roundRect">
            <a:avLst>
              <a:gd name="adj" fmla="val 6000"/>
            </a:avLst>
          </a:prstGeom>
          <a:solidFill>
            <a:srgbClr val="EAF2FA"/>
          </a:solidFill>
          <a:ln w="12700">
            <a:solidFill>
              <a:srgbClr val="C4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FaEye circle"/>
          <p:cNvSpPr/>
          <p:nvPr/>
        </p:nvSpPr>
        <p:spPr>
          <a:xfrm>
            <a:off x="7466076" y="132588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2" name="FaEye" descr="We review and iterate"/>
          <p:cNvPicPr>
            <a:picLocks noChangeAspect="1"/>
          </p:cNvPicPr>
          <p:nvPr/>
        </p:nvPicPr>
        <p:blipFill>
          <a:blip r:embed="rId6"/>
          <a:stretch>
            <a:fillRect/>
          </a:stretch>
        </p:blipFill>
        <p:spPr>
          <a:xfrm>
            <a:off x="7614208" y="1474012"/>
            <a:ext cx="252374" cy="252374"/>
          </a:xfrm>
          <a:prstGeom prst="rect">
            <a:avLst/>
          </a:prstGeom>
        </p:spPr>
      </p:pic>
      <p:sp>
        <p:nvSpPr>
          <p:cNvPr id="353" name="We review and iterate label"/>
          <p:cNvSpPr txBox="1"/>
          <p:nvPr/>
        </p:nvSpPr>
        <p:spPr>
          <a:xfrm>
            <a:off x="6940296" y="1965960"/>
            <a:ext cx="1600200" cy="594360"/>
          </a:xfrm>
          <a:prstGeom prst="rect">
            <a:avLst/>
          </a:prstGeom>
          <a:noFill/>
        </p:spPr>
        <p:txBody>
          <a:bodyPr wrap="square" anchor="ctr" lIns="0" rIns="0" tIns="0" bIns="0">
            <a:spAutoFit/>
          </a:bodyPr>
          <a:lstStyle/>
          <a:p>
            <a:pPr algn="ctr">
              <a:spcAft>
                <a:spcPts val="0"/>
              </a:spcAft>
            </a:pPr>
            <a:r>
              <a:rPr sz="1600" b="1" i="0">
                <a:solidFill>
                  <a:srgbClr val="0B2F54"/>
                </a:solidFill>
                <a:latin typeface="Calibri"/>
              </a:rPr>
              <a:t>We review and iterate</a:t>
            </a:r>
          </a:p>
        </p:txBody>
      </p:sp>
      <p:sp>
        <p:nvSpPr>
          <p:cNvPr id="354" name="We review and iterate note"/>
          <p:cNvSpPr txBox="1"/>
          <p:nvPr/>
        </p:nvSpPr>
        <p:spPr>
          <a:xfrm>
            <a:off x="6958584" y="2606040"/>
            <a:ext cx="1563624" cy="777240"/>
          </a:xfrm>
          <a:prstGeom prst="rect">
            <a:avLst/>
          </a:prstGeom>
          <a:noFill/>
        </p:spPr>
        <p:txBody>
          <a:bodyPr wrap="square" anchor="t" lIns="0" rIns="0" tIns="0" bIns="0">
            <a:spAutoFit/>
          </a:bodyPr>
          <a:lstStyle/>
          <a:p>
            <a:pPr algn="ctr">
              <a:spcAft>
                <a:spcPts val="0"/>
              </a:spcAft>
            </a:pPr>
            <a:r>
              <a:rPr sz="1300" b="0" i="0">
                <a:solidFill>
                  <a:srgbClr val="1F2937"/>
                </a:solidFill>
                <a:latin typeface="Calibri"/>
              </a:rPr>
              <a:t>read it, run it, give feedback</a:t>
            </a:r>
          </a:p>
        </p:txBody>
      </p:sp>
      <p:sp>
        <p:nvSpPr>
          <p:cNvPr id="355" name="app banner"/>
          <p:cNvSpPr/>
          <p:nvPr/>
        </p:nvSpPr>
        <p:spPr>
          <a:xfrm>
            <a:off x="457200" y="3657600"/>
            <a:ext cx="8183879" cy="731520"/>
          </a:xfrm>
          <a:prstGeom prst="roundRect">
            <a:avLst>
              <a:gd name="adj" fmla="val 6000"/>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pp banner text"/>
          <p:cNvSpPr txBox="1"/>
          <p:nvPr/>
        </p:nvSpPr>
        <p:spPr>
          <a:xfrm>
            <a:off x="685800" y="3657600"/>
            <a:ext cx="7726679" cy="731520"/>
          </a:xfrm>
          <a:prstGeom prst="rect">
            <a:avLst/>
          </a:prstGeom>
          <a:noFill/>
        </p:spPr>
        <p:txBody>
          <a:bodyPr wrap="square" anchor="ctr" lIns="0" rIns="0" tIns="0" bIns="0">
            <a:spAutoFit/>
          </a:bodyPr>
          <a:lstStyle/>
          <a:p>
            <a:pPr algn="l">
              <a:spcAft>
                <a:spcPts val="0"/>
              </a:spcAft>
            </a:pPr>
            <a:r>
              <a:rPr sz="1600" b="1" i="0">
                <a:solidFill>
                  <a:srgbClr val="FFFFFF"/>
                </a:solidFill>
                <a:latin typeface="Calibri"/>
              </a:rPr>
              <a:t>Layout, colors and typography are the model's call. </a:t>
            </a:r>
            <a:r>
              <a:rPr sz="1600" b="0" i="0">
                <a:solidFill>
                  <a:srgbClr val="FFFFFF"/>
                </a:solidFill>
                <a:latin typeface="Calibri"/>
              </a:rPr>
              <a:t>Ask both providers and compare the two apps.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e038e53ae8_0_448"/>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29" name="Google Shape;329;g3e038e53ae8_0_448"/>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Demo: the scripted flow</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31" name="Google Shape;331;g3e038e53ae8_0_448"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32" name="step 1 circle"/>
          <p:cNvSpPr/>
          <p:nvPr/>
        </p:nvSpPr>
        <p:spPr>
          <a:xfrm>
            <a:off x="594360" y="1225296"/>
            <a:ext cx="566928" cy="56692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333" name="step 1 heading"/>
          <p:cNvSpPr txBox="1"/>
          <p:nvPr/>
        </p:nvSpPr>
        <p:spPr>
          <a:xfrm>
            <a:off x="1417320" y="1188720"/>
            <a:ext cx="6766560" cy="329184"/>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Who led the NBA in scoring in 2023-24?</a:t>
            </a:r>
          </a:p>
        </p:txBody>
      </p:sp>
      <p:sp>
        <p:nvSpPr>
          <p:cNvPr id="334" name="step 1 note"/>
          <p:cNvSpPr txBox="1"/>
          <p:nvPr/>
        </p:nvSpPr>
        <p:spPr>
          <a:xfrm>
            <a:off x="1417320" y="1536192"/>
            <a:ext cx="6766560" cy="292608"/>
          </a:xfrm>
          <a:prstGeom prst="rect">
            <a:avLst/>
          </a:prstGeom>
          <a:noFill/>
        </p:spPr>
        <p:txBody>
          <a:bodyPr wrap="square" anchor="t" lIns="0" rIns="0" tIns="0" bIns="0">
            <a:spAutoFit/>
          </a:bodyPr>
          <a:lstStyle/>
          <a:p>
            <a:pPr algn="l">
              <a:spcAft>
                <a:spcPts val="0"/>
              </a:spcAft>
            </a:pPr>
            <a:r>
              <a:rPr sz="1400" b="0" i="0">
                <a:solidFill>
                  <a:srgbClr val="4B5563"/>
                </a:solidFill>
                <a:latin typeface="Calibri"/>
              </a:rPr>
              <a:t>Expect Luka Dončić, 33.9 per game, with the filters named</a:t>
            </a:r>
          </a:p>
        </p:txBody>
      </p:sp>
      <p:sp>
        <p:nvSpPr>
          <p:cNvPr id="335" name="step 2 circle"/>
          <p:cNvSpPr/>
          <p:nvPr/>
        </p:nvSpPr>
        <p:spPr>
          <a:xfrm>
            <a:off x="594360" y="2029968"/>
            <a:ext cx="566928" cy="56692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336" name="step 2 heading"/>
          <p:cNvSpPr txBox="1"/>
          <p:nvPr/>
        </p:nvSpPr>
        <p:spPr>
          <a:xfrm>
            <a:off x="1417320" y="1993392"/>
            <a:ext cx="6766560" cy="329184"/>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Compare Jordan and LeBron by career per-game stats</a:t>
            </a:r>
          </a:p>
        </p:txBody>
      </p:sp>
      <p:sp>
        <p:nvSpPr>
          <p:cNvPr id="337" name="step 2 note"/>
          <p:cNvSpPr txBox="1"/>
          <p:nvPr/>
        </p:nvSpPr>
        <p:spPr>
          <a:xfrm>
            <a:off x="1417320" y="2340864"/>
            <a:ext cx="6766560" cy="292608"/>
          </a:xfrm>
          <a:prstGeom prst="rect">
            <a:avLst/>
          </a:prstGeom>
          <a:noFill/>
        </p:spPr>
        <p:txBody>
          <a:bodyPr wrap="square" anchor="t" lIns="0" rIns="0" tIns="0" bIns="0">
            <a:spAutoFit/>
          </a:bodyPr>
          <a:lstStyle/>
          <a:p>
            <a:pPr algn="l">
              <a:spcAft>
                <a:spcPts val="0"/>
              </a:spcAft>
            </a:pPr>
            <a:r>
              <a:rPr sz="1400" b="0" i="0">
                <a:solidFill>
                  <a:srgbClr val="4B5563"/>
                </a:solidFill>
                <a:latin typeface="Calibri"/>
              </a:rPr>
              <a:t>Career totals without double counting trades</a:t>
            </a:r>
          </a:p>
        </p:txBody>
      </p:sp>
      <p:sp>
        <p:nvSpPr>
          <p:cNvPr id="338" name="step 3 circle"/>
          <p:cNvSpPr/>
          <p:nvPr/>
        </p:nvSpPr>
        <p:spPr>
          <a:xfrm>
            <a:off x="594360" y="2834640"/>
            <a:ext cx="566928" cy="566928"/>
          </a:xfrm>
          <a:prstGeom prst="ellipse">
            <a:avLst/>
          </a:prstGeom>
          <a:solidFill>
            <a:srgbClr val="D96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339" name="step 3 heading"/>
          <p:cNvSpPr txBox="1"/>
          <p:nvPr/>
        </p:nvSpPr>
        <p:spPr>
          <a:xfrm>
            <a:off x="1417320" y="2798064"/>
            <a:ext cx="6766560" cy="329184"/>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How many 40-point games did Devin Booker have?</a:t>
            </a:r>
          </a:p>
        </p:txBody>
      </p:sp>
      <p:sp>
        <p:nvSpPr>
          <p:cNvPr id="340" name="step 3 note"/>
          <p:cNvSpPr txBox="1"/>
          <p:nvPr/>
        </p:nvSpPr>
        <p:spPr>
          <a:xfrm>
            <a:off x="1417320" y="3145536"/>
            <a:ext cx="6766560" cy="292608"/>
          </a:xfrm>
          <a:prstGeom prst="rect">
            <a:avLst/>
          </a:prstGeom>
          <a:noFill/>
        </p:spPr>
        <p:txBody>
          <a:bodyPr wrap="square" anchor="t" lIns="0" rIns="0" tIns="0" bIns="0">
            <a:spAutoFit/>
          </a:bodyPr>
          <a:lstStyle/>
          <a:p>
            <a:pPr algn="l">
              <a:spcAft>
                <a:spcPts val="0"/>
              </a:spcAft>
            </a:pPr>
            <a:r>
              <a:rPr sz="1400" b="0" i="0">
                <a:solidFill>
                  <a:srgbClr val="4B5563"/>
                </a:solidFill>
                <a:latin typeface="Calibri"/>
              </a:rPr>
              <a:t>Expect a refusal: there are no individual games</a:t>
            </a:r>
          </a:p>
        </p:txBody>
      </p:sp>
      <p:sp>
        <p:nvSpPr>
          <p:cNvPr id="341" name="step 4 circle"/>
          <p:cNvSpPr/>
          <p:nvPr/>
        </p:nvSpPr>
        <p:spPr>
          <a:xfrm>
            <a:off x="594360" y="3639312"/>
            <a:ext cx="566928" cy="566928"/>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342" name="step 4 heading"/>
          <p:cNvSpPr txBox="1"/>
          <p:nvPr/>
        </p:nvSpPr>
        <p:spPr>
          <a:xfrm>
            <a:off x="1417320" y="3602736"/>
            <a:ext cx="6766560" cy="329184"/>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Open "How I got this"</a:t>
            </a:r>
          </a:p>
        </p:txBody>
      </p:sp>
      <p:sp>
        <p:nvSpPr>
          <p:cNvPr id="343" name="step 4 note"/>
          <p:cNvSpPr txBox="1"/>
          <p:nvPr/>
        </p:nvSpPr>
        <p:spPr>
          <a:xfrm>
            <a:off x="1417320" y="3950208"/>
            <a:ext cx="6766560" cy="292608"/>
          </a:xfrm>
          <a:prstGeom prst="rect">
            <a:avLst/>
          </a:prstGeom>
          <a:noFill/>
        </p:spPr>
        <p:txBody>
          <a:bodyPr wrap="square" anchor="t" lIns="0" rIns="0" tIns="0" bIns="0">
            <a:spAutoFit/>
          </a:bodyPr>
          <a:lstStyle/>
          <a:p>
            <a:pPr algn="l">
              <a:spcAft>
                <a:spcPts val="0"/>
              </a:spcAft>
            </a:pPr>
            <a:r>
              <a:rPr sz="1400" b="0" i="0">
                <a:solidFill>
                  <a:srgbClr val="4B5563"/>
                </a:solidFill>
                <a:latin typeface="Calibri"/>
              </a:rPr>
              <a:t>Show the SQL the agent ran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0" name="Shape 360"/>
        <p:cNvGrpSpPr/>
        <p:nvPr/>
      </p:nvGrpSpPr>
      <p:grpSpPr>
        <a:xfrm>
          <a:off x="0" y="0"/>
          <a:ext cx="0" cy="0"/>
          <a:chOff x="0" y="0"/>
          <a:chExt cx="0" cy="0"/>
        </a:xfrm>
      </p:grpSpPr>
      <p:sp>
        <p:nvSpPr>
          <p:cNvPr id="361" name="Google Shape;361;g3e038e53ae8_0_477"/>
          <p:cNvSpPr txBox="1"/>
          <p:nvPr/>
        </p:nvSpPr>
        <p:spPr>
          <a:xfrm>
            <a:off x="4642088" y="1963463"/>
            <a:ext cx="6020100" cy="18192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4200"/>
              <a:buFont typeface="Calibri"/>
              <a:buNone/>
            </a:pPr>
            <a:r>
              <a:t/>
            </a:r>
            <a:endParaRPr b="1" i="0" sz="48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rgbClr val="000000"/>
              </a:solidFill>
              <a:latin typeface="Roboto Slab"/>
              <a:ea typeface="Roboto Slab"/>
              <a:cs typeface="Roboto Slab"/>
              <a:sym typeface="Roboto Slab"/>
            </a:endParaRPr>
          </a:p>
        </p:txBody>
      </p:sp>
      <p:sp>
        <p:nvSpPr>
          <p:cNvPr id="362" name="Google Shape;362;g3e038e53ae8_0_477"/>
          <p:cNvSpPr txBox="1"/>
          <p:nvPr/>
        </p:nvSpPr>
        <p:spPr>
          <a:xfrm>
            <a:off x="1376706" y="725297"/>
            <a:ext cx="6390600" cy="1539600"/>
          </a:xfrm>
          <a:prstGeom prst="rect">
            <a:avLst/>
          </a:prstGeom>
          <a:noFill/>
          <a:ln>
            <a:noFill/>
          </a:ln>
        </p:spPr>
        <p:txBody>
          <a:bodyPr anchorCtr="0" anchor="b" bIns="68575" lIns="68575" spcFirstLastPara="1" rIns="68575" wrap="square" tIns="68575">
            <a:normAutofit/>
          </a:bodyPr>
          <a:lstStyle/>
          <a:p>
            <a:pPr indent="0" lvl="0" marL="0" marR="0" rtl="0" algn="ctr">
              <a:lnSpc>
                <a:spcPct val="90000"/>
              </a:lnSpc>
              <a:spcBef>
                <a:spcPts val="0"/>
              </a:spcBef>
              <a:spcAft>
                <a:spcPts val="0"/>
              </a:spcAft>
              <a:buClr>
                <a:srgbClr val="000000"/>
              </a:buClr>
              <a:buSzPts val="4800"/>
              <a:buFont typeface="Arial"/>
              <a:buNone/>
            </a:pPr>
            <a:r>
              <a:rPr b="1" lang="en" sz="4800">
                <a:solidFill>
                  <a:schemeClr val="lt1"/>
                </a:solidFill>
                <a:latin typeface="Roboto"/>
                <a:ea typeface="Roboto"/>
                <a:cs typeface="Roboto"/>
                <a:sym typeface="Roboto"/>
              </a:rPr>
              <a:t>Demo</a:t>
            </a:r>
            <a:endParaRPr b="1" i="0" sz="3900" u="none" cap="none" strike="noStrike">
              <a:solidFill>
                <a:schemeClr val="lt1"/>
              </a:solidFill>
              <a:latin typeface="Roboto"/>
              <a:ea typeface="Roboto"/>
              <a:cs typeface="Roboto"/>
              <a:sym typeface="Roboto"/>
            </a:endParaRPr>
          </a:p>
        </p:txBody>
      </p:sp>
      <p:sp>
        <p:nvSpPr>
          <p:cNvPr id="363" name="Google Shape;363;g3e038e53ae8_0_477"/>
          <p:cNvSpPr txBox="1"/>
          <p:nvPr/>
        </p:nvSpPr>
        <p:spPr>
          <a:xfrm>
            <a:off x="1256400" y="2044697"/>
            <a:ext cx="6390600" cy="594600"/>
          </a:xfrm>
          <a:prstGeom prst="rect">
            <a:avLst/>
          </a:prstGeom>
          <a:noFill/>
          <a:ln>
            <a:noFill/>
          </a:ln>
        </p:spPr>
        <p:txBody>
          <a:bodyPr anchorCtr="0" anchor="t" bIns="68575" lIns="68575" spcFirstLastPara="1" rIns="68575" wrap="square" tIns="68575">
            <a:norm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rgbClr val="595959"/>
                </a:solidFill>
                <a:latin typeface="Arial"/>
                <a:ea typeface="Arial"/>
                <a:cs typeface="Arial"/>
                <a:sym typeface="Arial"/>
              </a:rPr>
              <a:t> </a:t>
            </a:r>
            <a:endParaRPr b="0" i="0" sz="2100" u="none" cap="none" strike="noStrike">
              <a:solidFill>
                <a:srgbClr val="59595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e038e53ae8_0_484"/>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69" name="Google Shape;369;g3e038e53ae8_0_484"/>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Future enhancements</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71" name="Google Shape;371;g3e038e53ae8_0_484"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72" name="FaMicrochip circle"/>
          <p:cNvSpPr/>
          <p:nvPr/>
        </p:nvSpPr>
        <p:spPr>
          <a:xfrm>
            <a:off x="594360" y="118872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3" name="FaMicrochip" descr="Gemma as a third contender"/>
          <p:cNvPicPr>
            <a:picLocks noChangeAspect="1"/>
          </p:cNvPicPr>
          <p:nvPr/>
        </p:nvPicPr>
        <p:blipFill>
          <a:blip r:embed="rId4"/>
          <a:stretch>
            <a:fillRect/>
          </a:stretch>
        </p:blipFill>
        <p:spPr>
          <a:xfrm>
            <a:off x="742492" y="1336852"/>
            <a:ext cx="252374" cy="252374"/>
          </a:xfrm>
          <a:prstGeom prst="rect">
            <a:avLst/>
          </a:prstGeom>
        </p:spPr>
      </p:pic>
      <p:sp>
        <p:nvSpPr>
          <p:cNvPr id="374" name="Gemma as a third contender heading"/>
          <p:cNvSpPr txBox="1"/>
          <p:nvPr/>
        </p:nvSpPr>
        <p:spPr>
          <a:xfrm>
            <a:off x="1371600" y="114300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Gemma as a third contender</a:t>
            </a:r>
          </a:p>
        </p:txBody>
      </p:sp>
      <p:sp>
        <p:nvSpPr>
          <p:cNvPr id="375" name="Gemma as a third contender text"/>
          <p:cNvSpPr txBox="1"/>
          <p:nvPr/>
        </p:nvSpPr>
        <p:spPr>
          <a:xfrm>
            <a:off x="1371600" y="147218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An open model on a free Colab GPU, compared on the same eval</a:t>
            </a:r>
          </a:p>
        </p:txBody>
      </p:sp>
      <p:sp>
        <p:nvSpPr>
          <p:cNvPr id="376" name="FaTable circle"/>
          <p:cNvSpPr/>
          <p:nvPr/>
        </p:nvSpPr>
        <p:spPr>
          <a:xfrm>
            <a:off x="594360" y="2011679"/>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7" name="FaTable" descr="More of the dataset"/>
          <p:cNvPicPr>
            <a:picLocks noChangeAspect="1"/>
          </p:cNvPicPr>
          <p:nvPr/>
        </p:nvPicPr>
        <p:blipFill>
          <a:blip r:embed="rId5"/>
          <a:stretch>
            <a:fillRect/>
          </a:stretch>
        </p:blipFill>
        <p:spPr>
          <a:xfrm>
            <a:off x="742492" y="2159812"/>
            <a:ext cx="252374" cy="252374"/>
          </a:xfrm>
          <a:prstGeom prst="rect">
            <a:avLst/>
          </a:prstGeom>
        </p:spPr>
      </p:pic>
      <p:sp>
        <p:nvSpPr>
          <p:cNvPr id="378" name="More of the dataset heading"/>
          <p:cNvSpPr txBox="1"/>
          <p:nvPr/>
        </p:nvSpPr>
        <p:spPr>
          <a:xfrm>
            <a:off x="1371600" y="196596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More of the dataset</a:t>
            </a:r>
          </a:p>
        </p:txBody>
      </p:sp>
      <p:sp>
        <p:nvSpPr>
          <p:cNvPr id="379" name="More of the dataset text"/>
          <p:cNvSpPr txBox="1"/>
          <p:nvPr/>
        </p:nvSpPr>
        <p:spPr>
          <a:xfrm>
            <a:off x="1371600" y="229514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Per 100 possessions, shooting and play-by-play files</a:t>
            </a:r>
          </a:p>
        </p:txBody>
      </p:sp>
      <p:sp>
        <p:nvSpPr>
          <p:cNvPr id="380" name="FaComments circle"/>
          <p:cNvSpPr/>
          <p:nvPr/>
        </p:nvSpPr>
        <p:spPr>
          <a:xfrm>
            <a:off x="594360" y="2834639"/>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1" name="FaComments" descr="Memory for follow-ups"/>
          <p:cNvPicPr>
            <a:picLocks noChangeAspect="1"/>
          </p:cNvPicPr>
          <p:nvPr/>
        </p:nvPicPr>
        <p:blipFill>
          <a:blip r:embed="rId6"/>
          <a:stretch>
            <a:fillRect/>
          </a:stretch>
        </p:blipFill>
        <p:spPr>
          <a:xfrm>
            <a:off x="742492" y="2982772"/>
            <a:ext cx="252374" cy="252374"/>
          </a:xfrm>
          <a:prstGeom prst="rect">
            <a:avLst/>
          </a:prstGeom>
        </p:spPr>
      </p:pic>
      <p:sp>
        <p:nvSpPr>
          <p:cNvPr id="382" name="Memory for follow-ups heading"/>
          <p:cNvSpPr txBox="1"/>
          <p:nvPr/>
        </p:nvSpPr>
        <p:spPr>
          <a:xfrm>
            <a:off x="1371600" y="278892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Memory for follow-ups</a:t>
            </a:r>
          </a:p>
        </p:txBody>
      </p:sp>
      <p:sp>
        <p:nvSpPr>
          <p:cNvPr id="383" name="Memory for follow-ups text"/>
          <p:cNvSpPr txBox="1"/>
          <p:nvPr/>
        </p:nvSpPr>
        <p:spPr>
          <a:xfrm>
            <a:off x="1371600" y="3118103"/>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So "what about Embiid?" works</a:t>
            </a:r>
          </a:p>
        </p:txBody>
      </p:sp>
      <p:sp>
        <p:nvSpPr>
          <p:cNvPr id="384" name="FaChartBar circle"/>
          <p:cNvSpPr/>
          <p:nvPr/>
        </p:nvSpPr>
        <p:spPr>
          <a:xfrm>
            <a:off x="594360" y="365760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5" name="FaChartBar" descr="Charts and fine-tuning"/>
          <p:cNvPicPr>
            <a:picLocks noChangeAspect="1"/>
          </p:cNvPicPr>
          <p:nvPr/>
        </p:nvPicPr>
        <p:blipFill>
          <a:blip r:embed="rId7"/>
          <a:stretch>
            <a:fillRect/>
          </a:stretch>
        </p:blipFill>
        <p:spPr>
          <a:xfrm>
            <a:off x="742492" y="3805732"/>
            <a:ext cx="252374" cy="252374"/>
          </a:xfrm>
          <a:prstGeom prst="rect">
            <a:avLst/>
          </a:prstGeom>
        </p:spPr>
      </p:pic>
      <p:sp>
        <p:nvSpPr>
          <p:cNvPr id="386" name="Charts and fine-tuning heading"/>
          <p:cNvSpPr txBox="1"/>
          <p:nvPr/>
        </p:nvSpPr>
        <p:spPr>
          <a:xfrm>
            <a:off x="1371600" y="361188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Charts and fine-tuning</a:t>
            </a:r>
          </a:p>
        </p:txBody>
      </p:sp>
      <p:sp>
        <p:nvSpPr>
          <p:cNvPr id="387" name="Charts and fine-tuning text"/>
          <p:cNvSpPr txBox="1"/>
          <p:nvPr/>
        </p:nvSpPr>
        <p:spPr>
          <a:xfrm>
            <a:off x="1371600" y="394106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Draw the answer, or fine-tune a small model on question-to-SQL pairs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e038e53ae8_0_492"/>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77" name="Google Shape;377;g3e038e53ae8_0_492"/>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Lessons learned</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79" name="Google Shape;379;g3e038e53ae8_0_492"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80" name="FaDatabase circle"/>
          <p:cNvSpPr/>
          <p:nvPr/>
        </p:nvSpPr>
        <p:spPr>
          <a:xfrm>
            <a:off x="594360" y="118872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1" name="FaDatabase" descr="The data was harder than the model"/>
          <p:cNvPicPr>
            <a:picLocks noChangeAspect="1"/>
          </p:cNvPicPr>
          <p:nvPr/>
        </p:nvPicPr>
        <p:blipFill>
          <a:blip r:embed="rId4"/>
          <a:stretch>
            <a:fillRect/>
          </a:stretch>
        </p:blipFill>
        <p:spPr>
          <a:xfrm>
            <a:off x="742492" y="1336852"/>
            <a:ext cx="252374" cy="252374"/>
          </a:xfrm>
          <a:prstGeom prst="rect">
            <a:avLst/>
          </a:prstGeom>
        </p:spPr>
      </p:pic>
      <p:sp>
        <p:nvSpPr>
          <p:cNvPr id="382" name="The data was harder than the model heading"/>
          <p:cNvSpPr txBox="1"/>
          <p:nvPr/>
        </p:nvSpPr>
        <p:spPr>
          <a:xfrm>
            <a:off x="1371600" y="114300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The data was harder than the model</a:t>
            </a:r>
          </a:p>
        </p:txBody>
      </p:sp>
      <p:sp>
        <p:nvSpPr>
          <p:cNvPr id="383" name="The data was harder than the model text"/>
          <p:cNvSpPr txBox="1"/>
          <p:nvPr/>
        </p:nvSpPr>
        <p:spPr>
          <a:xfrm>
            <a:off x="1371600" y="147218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End-year seasons, double-counted trades and NA text caused most risk</a:t>
            </a:r>
          </a:p>
        </p:txBody>
      </p:sp>
      <p:sp>
        <p:nvSpPr>
          <p:cNvPr id="384" name="FaClipboardCheck circle"/>
          <p:cNvSpPr/>
          <p:nvPr/>
        </p:nvSpPr>
        <p:spPr>
          <a:xfrm>
            <a:off x="594360" y="2011679"/>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5" name="FaClipboardCheck" descr="Evaluation measures, you improve"/>
          <p:cNvPicPr>
            <a:picLocks noChangeAspect="1"/>
          </p:cNvPicPr>
          <p:nvPr/>
        </p:nvPicPr>
        <p:blipFill>
          <a:blip r:embed="rId5"/>
          <a:stretch>
            <a:fillRect/>
          </a:stretch>
        </p:blipFill>
        <p:spPr>
          <a:xfrm>
            <a:off x="742492" y="2159812"/>
            <a:ext cx="252374" cy="252374"/>
          </a:xfrm>
          <a:prstGeom prst="rect">
            <a:avLst/>
          </a:prstGeom>
        </p:spPr>
      </p:pic>
      <p:sp>
        <p:nvSpPr>
          <p:cNvPr id="386" name="Evaluation measures, you improve heading"/>
          <p:cNvSpPr txBox="1"/>
          <p:nvPr/>
        </p:nvSpPr>
        <p:spPr>
          <a:xfrm>
            <a:off x="1371600" y="196596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Evaluation measures, you improve</a:t>
            </a:r>
          </a:p>
        </p:txBody>
      </p:sp>
      <p:sp>
        <p:nvSpPr>
          <p:cNvPr id="387" name="Evaluation measures, you improve text"/>
          <p:cNvSpPr txBox="1"/>
          <p:nvPr/>
        </p:nvSpPr>
        <p:spPr>
          <a:xfrm>
            <a:off x="1371600" y="229514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Change one thing, rerun dev, and hold out test</a:t>
            </a:r>
          </a:p>
        </p:txBody>
      </p:sp>
      <p:sp>
        <p:nvSpPr>
          <p:cNvPr id="388" name="FaLayerGroup circle"/>
          <p:cNvSpPr/>
          <p:nvPr/>
        </p:nvSpPr>
        <p:spPr>
          <a:xfrm>
            <a:off x="594360" y="2834639"/>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9" name="FaLayerGroup" descr="Structure beats a longer prompt"/>
          <p:cNvPicPr>
            <a:picLocks noChangeAspect="1"/>
          </p:cNvPicPr>
          <p:nvPr/>
        </p:nvPicPr>
        <p:blipFill>
          <a:blip r:embed="rId6"/>
          <a:stretch>
            <a:fillRect/>
          </a:stretch>
        </p:blipFill>
        <p:spPr>
          <a:xfrm>
            <a:off x="742492" y="2982772"/>
            <a:ext cx="252374" cy="252374"/>
          </a:xfrm>
          <a:prstGeom prst="rect">
            <a:avLst/>
          </a:prstGeom>
        </p:spPr>
      </p:pic>
      <p:sp>
        <p:nvSpPr>
          <p:cNvPr id="390" name="Structure beats a longer prompt heading"/>
          <p:cNvSpPr txBox="1"/>
          <p:nvPr/>
        </p:nvSpPr>
        <p:spPr>
          <a:xfrm>
            <a:off x="1371600" y="278892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Structure beats a longer prompt</a:t>
            </a:r>
          </a:p>
        </p:txBody>
      </p:sp>
      <p:sp>
        <p:nvSpPr>
          <p:cNvPr id="391" name="Structure beats a longer prompt text"/>
          <p:cNvSpPr txBox="1"/>
          <p:nvPr/>
        </p:nvSpPr>
        <p:spPr>
          <a:xfrm>
            <a:off x="1371600" y="3118103"/>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Views and a data dictionary give the model a clear map</a:t>
            </a:r>
          </a:p>
        </p:txBody>
      </p:sp>
      <p:sp>
        <p:nvSpPr>
          <p:cNvPr id="392" name="FaFlask circle"/>
          <p:cNvSpPr/>
          <p:nvPr/>
        </p:nvSpPr>
        <p:spPr>
          <a:xfrm>
            <a:off x="594360" y="3657600"/>
            <a:ext cx="548640" cy="54864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3" name="FaFlask" descr="Fake clients catch real bugs"/>
          <p:cNvPicPr>
            <a:picLocks noChangeAspect="1"/>
          </p:cNvPicPr>
          <p:nvPr/>
        </p:nvPicPr>
        <p:blipFill>
          <a:blip r:embed="rId7"/>
          <a:stretch>
            <a:fillRect/>
          </a:stretch>
        </p:blipFill>
        <p:spPr>
          <a:xfrm>
            <a:off x="742492" y="3805732"/>
            <a:ext cx="252374" cy="252374"/>
          </a:xfrm>
          <a:prstGeom prst="rect">
            <a:avLst/>
          </a:prstGeom>
        </p:spPr>
      </p:pic>
      <p:sp>
        <p:nvSpPr>
          <p:cNvPr id="394" name="Fake clients catch real bugs heading"/>
          <p:cNvSpPr txBox="1"/>
          <p:nvPr/>
        </p:nvSpPr>
        <p:spPr>
          <a:xfrm>
            <a:off x="1371600" y="3611880"/>
            <a:ext cx="6858000" cy="310896"/>
          </a:xfrm>
          <a:prstGeom prst="rect">
            <a:avLst/>
          </a:prstGeom>
          <a:noFill/>
        </p:spPr>
        <p:txBody>
          <a:bodyPr wrap="square" anchor="t" lIns="0" rIns="0" tIns="0" bIns="0">
            <a:spAutoFit/>
          </a:bodyPr>
          <a:lstStyle/>
          <a:p>
            <a:pPr algn="l">
              <a:spcAft>
                <a:spcPts val="0"/>
              </a:spcAft>
            </a:pPr>
            <a:r>
              <a:rPr sz="1800" b="1" i="0">
                <a:solidFill>
                  <a:srgbClr val="0B2F54"/>
                </a:solidFill>
                <a:latin typeface="Calibri"/>
              </a:rPr>
              <a:t>Fake clients catch real bugs</a:t>
            </a:r>
          </a:p>
        </p:txBody>
      </p:sp>
      <p:sp>
        <p:nvSpPr>
          <p:cNvPr id="395" name="Fake clients catch real bugs text"/>
          <p:cNvSpPr txBox="1"/>
          <p:nvPr/>
        </p:nvSpPr>
        <p:spPr>
          <a:xfrm>
            <a:off x="1371600" y="3941064"/>
            <a:ext cx="6858000" cy="411480"/>
          </a:xfrm>
          <a:prstGeom prst="rect">
            <a:avLst/>
          </a:prstGeom>
          <a:noFill/>
        </p:spPr>
        <p:txBody>
          <a:bodyPr wrap="square" anchor="t" lIns="0" rIns="0" tIns="0" bIns="0">
            <a:spAutoFit/>
          </a:bodyPr>
          <a:lstStyle/>
          <a:p>
            <a:pPr algn="l">
              <a:spcAft>
                <a:spcPts val="0"/>
              </a:spcAft>
            </a:pPr>
            <a:r>
              <a:rPr sz="1400" b="0" i="0">
                <a:solidFill>
                  <a:srgbClr val="1F2937"/>
                </a:solidFill>
                <a:latin typeface="Calibri"/>
              </a:rPr>
              <a:t>Offline tests found a text-typed column and a path bug before Colab</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e038e53ae8_0_499"/>
          <p:cNvSpPr/>
          <p:nvPr/>
        </p:nvSpPr>
        <p:spPr>
          <a:xfrm>
            <a:off x="0" y="0"/>
            <a:ext cx="9144000" cy="911400"/>
          </a:xfrm>
          <a:prstGeom prst="rect">
            <a:avLst/>
          </a:prstGeom>
          <a:solidFill>
            <a:srgbClr val="145DA0"/>
          </a:solidFill>
          <a:ln cap="flat" cmpd="sng" w="7150">
            <a:solidFill>
              <a:srgbClr val="00406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85" name="Google Shape;385;g3e038e53ae8_0_499"/>
          <p:cNvSpPr txBox="1"/>
          <p:nvPr>
            <p:ph type="title"/>
          </p:nvPr>
        </p:nvSpPr>
        <p:spPr>
          <a:xfrm>
            <a:off x="112706" y="234094"/>
            <a:ext cx="7886700" cy="8514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77778"/>
              <a:buFont typeface="Calibri"/>
              <a:buNone/>
            </a:pPr>
            <a:r>
              <a:rPr lang="en" sz="3600">
                <a:solidFill>
                  <a:schemeClr val="lt1"/>
                </a:solidFill>
              </a:rPr>
              <a:t>Questions</a:t>
            </a:r>
            <a:endParaRPr sz="3600">
              <a:solidFill>
                <a:schemeClr val="lt1"/>
              </a:solidFill>
              <a:latin typeface="Avenir"/>
              <a:ea typeface="Avenir"/>
              <a:cs typeface="Avenir"/>
              <a:sym typeface="Avenir"/>
            </a:endParaRPr>
          </a:p>
          <a:p>
            <a:pPr indent="0" lvl="0" marL="0" rtl="0" algn="l">
              <a:lnSpc>
                <a:spcPct val="90000"/>
              </a:lnSpc>
              <a:spcBef>
                <a:spcPts val="0"/>
              </a:spcBef>
              <a:spcAft>
                <a:spcPts val="0"/>
              </a:spcAft>
              <a:buClr>
                <a:schemeClr val="dk1"/>
              </a:buClr>
              <a:buSzPct val="100000"/>
              <a:buFont typeface="Calibri"/>
              <a:buNone/>
            </a:pPr>
            <a:r>
              <a:t/>
            </a:r>
            <a:endParaRPr b="1">
              <a:solidFill>
                <a:schemeClr val="lt1"/>
              </a:solidFill>
            </a:endParaRPr>
          </a:p>
        </p:txBody>
      </p:sp>
      <p:pic>
        <p:nvPicPr>
          <p:cNvPr id="387" name="Google Shape;387;g3e038e53ae8_0_499" title="Schovia (2).png"/>
          <p:cNvPicPr preferRelativeResize="0"/>
          <p:nvPr/>
        </p:nvPicPr>
        <p:blipFill rotWithShape="1">
          <a:blip r:embed="rId3">
            <a:alphaModFix/>
          </a:blip>
          <a:srcRect b="29663" l="0" r="0" t="26175"/>
          <a:stretch/>
        </p:blipFill>
        <p:spPr>
          <a:xfrm>
            <a:off x="7496775" y="4511800"/>
            <a:ext cx="1404024" cy="503774"/>
          </a:xfrm>
          <a:prstGeom prst="rect">
            <a:avLst/>
          </a:prstGeom>
          <a:noFill/>
          <a:ln>
            <a:noFill/>
          </a:ln>
        </p:spPr>
      </p:pic>
      <p:sp>
        <p:nvSpPr>
          <p:cNvPr id="388" name="FaBasketballBall circle"/>
          <p:cNvSpPr/>
          <p:nvPr/>
        </p:nvSpPr>
        <p:spPr>
          <a:xfrm>
            <a:off x="3840480" y="1325880"/>
            <a:ext cx="1280160" cy="1280160"/>
          </a:xfrm>
          <a:prstGeom prst="ellipse">
            <a:avLst/>
          </a:prstGeom>
          <a:solidFill>
            <a:srgbClr val="145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9" name="FaBasketballBall" descr="basketball"/>
          <p:cNvPicPr>
            <a:picLocks noChangeAspect="1"/>
          </p:cNvPicPr>
          <p:nvPr/>
        </p:nvPicPr>
        <p:blipFill>
          <a:blip r:embed="rId4"/>
          <a:stretch>
            <a:fillRect/>
          </a:stretch>
        </p:blipFill>
        <p:spPr>
          <a:xfrm>
            <a:off x="4186123" y="1671523"/>
            <a:ext cx="588873" cy="588873"/>
          </a:xfrm>
          <a:prstGeom prst="rect">
            <a:avLst/>
          </a:prstGeom>
        </p:spPr>
      </p:pic>
      <p:sp>
        <p:nvSpPr>
          <p:cNvPr id="390" name="prompt"/>
          <p:cNvSpPr txBox="1"/>
          <p:nvPr/>
        </p:nvSpPr>
        <p:spPr>
          <a:xfrm>
            <a:off x="914400" y="2926080"/>
            <a:ext cx="7315200" cy="457200"/>
          </a:xfrm>
          <a:prstGeom prst="rect">
            <a:avLst/>
          </a:prstGeom>
          <a:noFill/>
        </p:spPr>
        <p:txBody>
          <a:bodyPr wrap="square" anchor="t" lIns="0" rIns="0" tIns="0" bIns="0">
            <a:spAutoFit/>
          </a:bodyPr>
          <a:lstStyle/>
          <a:p>
            <a:pPr algn="ctr">
              <a:spcAft>
                <a:spcPts val="0"/>
              </a:spcAft>
            </a:pPr>
            <a:r>
              <a:rPr sz="2600" b="1" i="0">
                <a:solidFill>
                  <a:srgbClr val="0B2F54"/>
                </a:solidFill>
                <a:latin typeface="Calibri"/>
              </a:rPr>
              <a:t>What would you ask the agent?</a:t>
            </a:r>
          </a:p>
        </p:txBody>
      </p:sp>
      <p:sp>
        <p:nvSpPr>
          <p:cNvPr id="391" name="repo link"/>
          <p:cNvSpPr txBox="1"/>
          <p:nvPr/>
        </p:nvSpPr>
        <p:spPr>
          <a:xfrm>
            <a:off x="914400" y="3520440"/>
            <a:ext cx="7315200" cy="365760"/>
          </a:xfrm>
          <a:prstGeom prst="rect">
            <a:avLst/>
          </a:prstGeom>
          <a:noFill/>
        </p:spPr>
        <p:txBody>
          <a:bodyPr wrap="square" anchor="t" lIns="0" rIns="0" tIns="0" bIns="0">
            <a:spAutoFit/>
          </a:bodyPr>
          <a:lstStyle/>
          <a:p>
            <a:pPr algn="ctr">
              <a:spcAft>
                <a:spcPts val="0"/>
              </a:spcAft>
            </a:pPr>
            <a:r>
              <a:rPr sz="1600" b="0" i="0">
                <a:solidFill>
                  <a:srgbClr val="145DA0"/>
                </a:solidFill>
                <a:latin typeface="Calibri"/>
              </a:rPr>
              <a:t>github.com/ZachDvorak/basketballm</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1" name="Shape 391"/>
        <p:cNvGrpSpPr/>
        <p:nvPr/>
      </p:nvGrpSpPr>
      <p:grpSpPr>
        <a:xfrm>
          <a:off x="0" y="0"/>
          <a:ext cx="0" cy="0"/>
          <a:chOff x="0" y="0"/>
          <a:chExt cx="0" cy="0"/>
        </a:xfrm>
      </p:grpSpPr>
      <p:sp>
        <p:nvSpPr>
          <p:cNvPr id="392" name="Google Shape;392;g3e038e53ae8_0_506"/>
          <p:cNvSpPr txBox="1"/>
          <p:nvPr/>
        </p:nvSpPr>
        <p:spPr>
          <a:xfrm>
            <a:off x="4642088" y="1963463"/>
            <a:ext cx="6020100" cy="18192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4200"/>
              <a:buFont typeface="Calibri"/>
              <a:buNone/>
            </a:pPr>
            <a:r>
              <a:t/>
            </a:r>
            <a:endParaRPr b="1" i="0" sz="48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rgbClr val="000000"/>
              </a:solidFill>
              <a:latin typeface="Roboto Slab"/>
              <a:ea typeface="Roboto Slab"/>
              <a:cs typeface="Roboto Slab"/>
              <a:sym typeface="Roboto Slab"/>
            </a:endParaRPr>
          </a:p>
        </p:txBody>
      </p:sp>
      <p:sp>
        <p:nvSpPr>
          <p:cNvPr id="393" name="Google Shape;393;g3e038e53ae8_0_506"/>
          <p:cNvSpPr txBox="1"/>
          <p:nvPr/>
        </p:nvSpPr>
        <p:spPr>
          <a:xfrm>
            <a:off x="1442356" y="1524172"/>
            <a:ext cx="6390600" cy="1539600"/>
          </a:xfrm>
          <a:prstGeom prst="rect">
            <a:avLst/>
          </a:prstGeom>
          <a:noFill/>
          <a:ln>
            <a:noFill/>
          </a:ln>
        </p:spPr>
        <p:txBody>
          <a:bodyPr anchorCtr="0" anchor="b" bIns="68575" lIns="68575" spcFirstLastPara="1" rIns="68575" wrap="square" tIns="68575">
            <a:normAutofit/>
          </a:bodyPr>
          <a:lstStyle/>
          <a:p>
            <a:pPr indent="0" lvl="0" marL="0" marR="0" rtl="0" algn="ctr">
              <a:lnSpc>
                <a:spcPct val="90000"/>
              </a:lnSpc>
              <a:spcBef>
                <a:spcPts val="0"/>
              </a:spcBef>
              <a:spcAft>
                <a:spcPts val="0"/>
              </a:spcAft>
              <a:buClr>
                <a:srgbClr val="000000"/>
              </a:buClr>
              <a:buSzPts val="4800"/>
              <a:buFont typeface="Arial"/>
              <a:buNone/>
            </a:pPr>
            <a:r>
              <a:rPr b="1" lang="en" sz="4800">
                <a:solidFill>
                  <a:schemeClr val="lt1"/>
                </a:solidFill>
                <a:latin typeface="Roboto"/>
                <a:ea typeface="Roboto"/>
                <a:cs typeface="Roboto"/>
                <a:sym typeface="Roboto"/>
              </a:rPr>
              <a:t>Thank You</a:t>
            </a:r>
            <a:endParaRPr b="1" i="0" sz="3900" u="none" cap="none" strike="noStrike">
              <a:solidFill>
                <a:schemeClr val="lt1"/>
              </a:solidFill>
              <a:latin typeface="Roboto"/>
              <a:ea typeface="Roboto"/>
              <a:cs typeface="Roboto"/>
              <a:sym typeface="Roboto"/>
            </a:endParaRPr>
          </a:p>
        </p:txBody>
      </p:sp>
      <p:sp>
        <p:nvSpPr>
          <p:cNvPr id="394" name="Google Shape;394;g3e038e53ae8_0_506"/>
          <p:cNvSpPr txBox="1"/>
          <p:nvPr/>
        </p:nvSpPr>
        <p:spPr>
          <a:xfrm>
            <a:off x="1256400" y="2044697"/>
            <a:ext cx="6390600" cy="594600"/>
          </a:xfrm>
          <a:prstGeom prst="rect">
            <a:avLst/>
          </a:prstGeom>
          <a:noFill/>
          <a:ln>
            <a:noFill/>
          </a:ln>
        </p:spPr>
        <p:txBody>
          <a:bodyPr anchorCtr="0" anchor="t" bIns="68575" lIns="68575" spcFirstLastPara="1" rIns="68575" wrap="square" tIns="68575">
            <a:norm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rgbClr val="595959"/>
                </a:solidFill>
                <a:latin typeface="Arial"/>
                <a:ea typeface="Arial"/>
                <a:cs typeface="Arial"/>
                <a:sym typeface="Arial"/>
              </a:rPr>
              <a:t> </a:t>
            </a:r>
            <a:endParaRPr b="0" i="0" sz="21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Yellow">
      <a:dk1>
        <a:srgbClr val="000000"/>
      </a:dk1>
      <a:lt1>
        <a:srgbClr val="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